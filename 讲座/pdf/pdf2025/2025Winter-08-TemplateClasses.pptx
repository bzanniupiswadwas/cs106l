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omments/modernComment_167_37715FD9.xml" ContentType="application/vnd.ms-powerpoint.comments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05"/>
  </p:notesMasterIdLst>
  <p:handoutMasterIdLst>
    <p:handoutMasterId r:id="rId106"/>
  </p:handoutMasterIdLst>
  <p:sldIdLst>
    <p:sldId id="380" r:id="rId2"/>
    <p:sldId id="257" r:id="rId3"/>
    <p:sldId id="258" r:id="rId4"/>
    <p:sldId id="259" r:id="rId5"/>
    <p:sldId id="262" r:id="rId6"/>
    <p:sldId id="260" r:id="rId7"/>
    <p:sldId id="261" r:id="rId8"/>
    <p:sldId id="263" r:id="rId9"/>
    <p:sldId id="356" r:id="rId10"/>
    <p:sldId id="357" r:id="rId11"/>
    <p:sldId id="266" r:id="rId12"/>
    <p:sldId id="268" r:id="rId13"/>
    <p:sldId id="381" r:id="rId14"/>
    <p:sldId id="358" r:id="rId15"/>
    <p:sldId id="269" r:id="rId16"/>
    <p:sldId id="256" r:id="rId17"/>
    <p:sldId id="270" r:id="rId18"/>
    <p:sldId id="364" r:id="rId19"/>
    <p:sldId id="271" r:id="rId20"/>
    <p:sldId id="276" r:id="rId21"/>
    <p:sldId id="277" r:id="rId22"/>
    <p:sldId id="289" r:id="rId23"/>
    <p:sldId id="278" r:id="rId24"/>
    <p:sldId id="295" r:id="rId25"/>
    <p:sldId id="279" r:id="rId26"/>
    <p:sldId id="296" r:id="rId27"/>
    <p:sldId id="297" r:id="rId28"/>
    <p:sldId id="282" r:id="rId29"/>
    <p:sldId id="288" r:id="rId30"/>
    <p:sldId id="280" r:id="rId31"/>
    <p:sldId id="283" r:id="rId32"/>
    <p:sldId id="362" r:id="rId33"/>
    <p:sldId id="284" r:id="rId34"/>
    <p:sldId id="371" r:id="rId35"/>
    <p:sldId id="286" r:id="rId36"/>
    <p:sldId id="287" r:id="rId37"/>
    <p:sldId id="293" r:id="rId38"/>
    <p:sldId id="291" r:id="rId39"/>
    <p:sldId id="359" r:id="rId40"/>
    <p:sldId id="298" r:id="rId41"/>
    <p:sldId id="382" r:id="rId42"/>
    <p:sldId id="290" r:id="rId43"/>
    <p:sldId id="299" r:id="rId44"/>
    <p:sldId id="302" r:id="rId45"/>
    <p:sldId id="303" r:id="rId46"/>
    <p:sldId id="304" r:id="rId47"/>
    <p:sldId id="300" r:id="rId48"/>
    <p:sldId id="305" r:id="rId49"/>
    <p:sldId id="306" r:id="rId50"/>
    <p:sldId id="308" r:id="rId51"/>
    <p:sldId id="310" r:id="rId52"/>
    <p:sldId id="294" r:id="rId53"/>
    <p:sldId id="313" r:id="rId54"/>
    <p:sldId id="372" r:id="rId55"/>
    <p:sldId id="272" r:id="rId56"/>
    <p:sldId id="365" r:id="rId57"/>
    <p:sldId id="386" r:id="rId58"/>
    <p:sldId id="373" r:id="rId59"/>
    <p:sldId id="274" r:id="rId60"/>
    <p:sldId id="309" r:id="rId61"/>
    <p:sldId id="315" r:id="rId62"/>
    <p:sldId id="317" r:id="rId63"/>
    <p:sldId id="318" r:id="rId64"/>
    <p:sldId id="319" r:id="rId65"/>
    <p:sldId id="320" r:id="rId66"/>
    <p:sldId id="366" r:id="rId67"/>
    <p:sldId id="321" r:id="rId68"/>
    <p:sldId id="323" r:id="rId69"/>
    <p:sldId id="374" r:id="rId70"/>
    <p:sldId id="329" r:id="rId71"/>
    <p:sldId id="328" r:id="rId72"/>
    <p:sldId id="375" r:id="rId73"/>
    <p:sldId id="367" r:id="rId74"/>
    <p:sldId id="368" r:id="rId75"/>
    <p:sldId id="331" r:id="rId76"/>
    <p:sldId id="332" r:id="rId77"/>
    <p:sldId id="333" r:id="rId78"/>
    <p:sldId id="335" r:id="rId79"/>
    <p:sldId id="336" r:id="rId80"/>
    <p:sldId id="377" r:id="rId81"/>
    <p:sldId id="338" r:id="rId82"/>
    <p:sldId id="339" r:id="rId83"/>
    <p:sldId id="340" r:id="rId84"/>
    <p:sldId id="341" r:id="rId85"/>
    <p:sldId id="342" r:id="rId86"/>
    <p:sldId id="343" r:id="rId87"/>
    <p:sldId id="344" r:id="rId88"/>
    <p:sldId id="345" r:id="rId89"/>
    <p:sldId id="347" r:id="rId90"/>
    <p:sldId id="346" r:id="rId91"/>
    <p:sldId id="348" r:id="rId92"/>
    <p:sldId id="354" r:id="rId93"/>
    <p:sldId id="383" r:id="rId94"/>
    <p:sldId id="384" r:id="rId95"/>
    <p:sldId id="349" r:id="rId96"/>
    <p:sldId id="379" r:id="rId97"/>
    <p:sldId id="353" r:id="rId98"/>
    <p:sldId id="351" r:id="rId99"/>
    <p:sldId id="352" r:id="rId100"/>
    <p:sldId id="370" r:id="rId101"/>
    <p:sldId id="363" r:id="rId102"/>
    <p:sldId id="369" r:id="rId103"/>
    <p:sldId id="385" r:id="rId104"/>
  </p:sldIdLst>
  <p:sldSz cx="12192000" cy="6858000"/>
  <p:notesSz cx="6858000" cy="9144000"/>
  <p:embeddedFontLst>
    <p:embeddedFont>
      <p:font typeface="Cascadia Mono" panose="020B0604020202020204" charset="0"/>
      <p:regular r:id="rId107"/>
      <p:bold r:id="rId108"/>
    </p:embeddedFont>
    <p:embeddedFont>
      <p:font typeface="EmbedMenlo" panose="020B0609030804020204" charset="0"/>
      <p:regular r:id="rId109"/>
      <p:bold r:id="rId110"/>
      <p:italic r:id="rId111"/>
      <p:boldItalic r:id="rId1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25EE5AB2-E654-B042-97D8-6674AEC19625}">
          <p14:sldIdLst>
            <p14:sldId id="380"/>
            <p14:sldId id="257"/>
            <p14:sldId id="258"/>
            <p14:sldId id="259"/>
            <p14:sldId id="262"/>
            <p14:sldId id="260"/>
            <p14:sldId id="261"/>
            <p14:sldId id="263"/>
            <p14:sldId id="356"/>
            <p14:sldId id="357"/>
            <p14:sldId id="266"/>
            <p14:sldId id="268"/>
            <p14:sldId id="381"/>
            <p14:sldId id="358"/>
            <p14:sldId id="269"/>
            <p14:sldId id="256"/>
            <p14:sldId id="270"/>
            <p14:sldId id="364"/>
          </p14:sldIdLst>
        </p14:section>
        <p14:section name="Template Classes" id="{B919412C-29BB-4744-B699-5B2AB0AA25DC}">
          <p14:sldIdLst>
            <p14:sldId id="271"/>
            <p14:sldId id="276"/>
            <p14:sldId id="277"/>
            <p14:sldId id="289"/>
            <p14:sldId id="278"/>
            <p14:sldId id="295"/>
            <p14:sldId id="279"/>
            <p14:sldId id="296"/>
            <p14:sldId id="297"/>
            <p14:sldId id="282"/>
            <p14:sldId id="288"/>
            <p14:sldId id="280"/>
            <p14:sldId id="283"/>
            <p14:sldId id="362"/>
            <p14:sldId id="284"/>
            <p14:sldId id="371"/>
            <p14:sldId id="286"/>
            <p14:sldId id="287"/>
            <p14:sldId id="293"/>
            <p14:sldId id="291"/>
            <p14:sldId id="359"/>
            <p14:sldId id="298"/>
            <p14:sldId id="382"/>
            <p14:sldId id="290"/>
            <p14:sldId id="299"/>
            <p14:sldId id="302"/>
            <p14:sldId id="303"/>
            <p14:sldId id="304"/>
            <p14:sldId id="300"/>
            <p14:sldId id="305"/>
            <p14:sldId id="306"/>
            <p14:sldId id="308"/>
            <p14:sldId id="310"/>
            <p14:sldId id="294"/>
            <p14:sldId id="313"/>
            <p14:sldId id="372"/>
          </p14:sldIdLst>
        </p14:section>
        <p14:section name="Code Demo" id="{E8BCA62A-8536-6E43-9E0A-D368B846D65A}">
          <p14:sldIdLst>
            <p14:sldId id="272"/>
            <p14:sldId id="365"/>
            <p14:sldId id="386"/>
            <p14:sldId id="373"/>
          </p14:sldIdLst>
        </p14:section>
        <p14:section name="Const Correctness" id="{3E9C54F8-B972-DB48-BD4A-1EACB853DFAA}">
          <p14:sldIdLst>
            <p14:sldId id="274"/>
            <p14:sldId id="309"/>
            <p14:sldId id="315"/>
            <p14:sldId id="317"/>
            <p14:sldId id="318"/>
            <p14:sldId id="319"/>
            <p14:sldId id="320"/>
            <p14:sldId id="366"/>
            <p14:sldId id="321"/>
            <p14:sldId id="323"/>
            <p14:sldId id="374"/>
            <p14:sldId id="329"/>
            <p14:sldId id="328"/>
            <p14:sldId id="375"/>
            <p14:sldId id="367"/>
            <p14:sldId id="368"/>
            <p14:sldId id="331"/>
            <p14:sldId id="332"/>
            <p14:sldId id="333"/>
            <p14:sldId id="335"/>
            <p14:sldId id="336"/>
            <p14:sldId id="377"/>
            <p14:sldId id="338"/>
            <p14:sldId id="339"/>
            <p14:sldId id="340"/>
            <p14:sldId id="341"/>
            <p14:sldId id="342"/>
            <p14:sldId id="343"/>
            <p14:sldId id="344"/>
            <p14:sldId id="345"/>
            <p14:sldId id="347"/>
            <p14:sldId id="346"/>
            <p14:sldId id="348"/>
            <p14:sldId id="354"/>
            <p14:sldId id="383"/>
            <p14:sldId id="384"/>
            <p14:sldId id="349"/>
            <p14:sldId id="379"/>
            <p14:sldId id="353"/>
            <p14:sldId id="351"/>
            <p14:sldId id="352"/>
          </p14:sldIdLst>
        </p14:section>
        <p14:section name="Recap" id="{1E1968CD-368F-DE41-9A3E-ACC2A021CFC1}">
          <p14:sldIdLst>
            <p14:sldId id="370"/>
            <p14:sldId id="363"/>
            <p14:sldId id="369"/>
            <p14:sldId id="38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1D4CDAD-A7D4-D519-77EB-928843413EA3}" name="Jacob Tristan Roberts-Baca" initials="JR" userId="S::jtrb@stanford.edu::e3508e99-c5b6-4206-a7be-b82194bb86e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26B74"/>
    <a:srgbClr val="D73A48"/>
    <a:srgbClr val="005CC5"/>
    <a:srgbClr val="6F42C1"/>
    <a:srgbClr val="E36208"/>
    <a:srgbClr val="D8B1FF"/>
    <a:srgbClr val="FFB1FF"/>
    <a:srgbClr val="D88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242C0B-1DA3-E045-BE86-7BC8F18B385A}" v="6" dt="2025-01-30T05:56:35.7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493"/>
    <p:restoredTop sz="94609"/>
  </p:normalViewPr>
  <p:slideViewPr>
    <p:cSldViewPr snapToGrid="0">
      <p:cViewPr varScale="1">
        <p:scale>
          <a:sx n="117" d="100"/>
          <a:sy n="117" d="100"/>
        </p:scale>
        <p:origin x="176" y="82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82" d="100"/>
          <a:sy n="82" d="100"/>
        </p:scale>
        <p:origin x="3352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microsoft.com/office/2015/10/relationships/revisionInfo" Target="revisionInfo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font" Target="fonts/font6.fntdata"/><Relationship Id="rId16" Type="http://schemas.openxmlformats.org/officeDocument/2006/relationships/slide" Target="slides/slide15.xml"/><Relationship Id="rId107" Type="http://schemas.openxmlformats.org/officeDocument/2006/relationships/font" Target="fonts/font1.fntdata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presProps" Target="presProps.xml"/><Relationship Id="rId118" Type="http://schemas.microsoft.com/office/2018/10/relationships/authors" Target="author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font" Target="fonts/font2.fntdata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font" Target="fonts/font3.fntdata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font" Target="fonts/font4.fntdata"/><Relationship Id="rId115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font" Target="fonts/font5.fntdata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handoutMaster" Target="handoutMasters/handoutMaster1.xml"/></Relationships>
</file>

<file path=ppt/comments/modernComment_167_37715FD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8CF8CA6-0838-A742-9B04-2CD8A1F6833A}" authorId="{B1D4CDAD-A7D4-D519-77EB-928843413EA3}" created="2025-01-31T00:34:10.20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930176985" sldId="359"/>
      <ac:spMk id="3" creationId="{F5F1347C-D954-8F56-0F1D-FB0A132EC1FD}"/>
    </ac:deMkLst>
    <p188:replyLst>
      <p188:reply id="{34E6A697-35A5-AB40-BB5D-51E280FE88A9}" authorId="{B1D4CDAD-A7D4-D519-77EB-928843413EA3}" created="2025-01-31T00:35:04.351">
        <p188:txBody>
          <a:bodyPr/>
          <a:lstStyle/>
          <a:p>
            <a:r>
              <a:rPr lang="en-US"/>
              <a:t>Interchangeable confusing
</a:t>
            </a:r>
          </a:p>
        </p188:txBody>
      </p188:reply>
    </p188:replyLst>
    <p188:txBody>
      <a:bodyPr/>
      <a:lstStyle/>
      <a:p>
        <a:r>
          <a:rPr lang="en-US"/>
          <a:t>Change this, confusing
Change header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3D80EBC-E5A6-79C5-31A9-A85F0DF7746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446745-7FC9-8E32-F75E-76402E37940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D70C79-ABBA-8D4C-AA57-740F6E885AC0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96C78D-D216-0BB1-517F-ECEE1D5DABE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53DCA6-F535-1F04-8775-81FC364144B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7239AA-F45B-4A41-A810-64F4C49C6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0974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B8E1FA-90DA-5644-8EBF-855555DD9142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92D5F9-251C-7F4B-9F15-D98877F79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886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92D5F9-251C-7F4B-9F15-D98877F798A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3351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92D5F9-251C-7F4B-9F15-D98877F798A9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4655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0B5F7-400F-A2BD-7D37-27D3322659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B3DA46-CED6-7B43-2010-3F44EBC30D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93120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5228A85-17FE-021C-B8B3-9BA3B6710E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541417"/>
            <a:ext cx="11404600" cy="47810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2pPr>
              <a:lnSpc>
                <a:spcPct val="125000"/>
              </a:lnSpc>
              <a:defRPr/>
            </a:lvl2pPr>
            <a:lvl3pPr>
              <a:lnSpc>
                <a:spcPct val="125000"/>
              </a:lnSpc>
              <a:defRPr/>
            </a:lvl3pPr>
            <a:lvl4pPr>
              <a:lnSpc>
                <a:spcPct val="125000"/>
              </a:lnSpc>
              <a:defRPr/>
            </a:lvl4pPr>
            <a:lvl5pPr>
              <a:lnSpc>
                <a:spcPct val="125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Placeholder 9">
            <a:extLst>
              <a:ext uri="{FF2B5EF4-FFF2-40B4-BE49-F238E27FC236}">
                <a16:creationId xmlns:a16="http://schemas.microsoft.com/office/drawing/2014/main" id="{617D594C-209A-6A2E-5476-7566BF381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630736"/>
            <a:ext cx="11404600" cy="7669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55672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9">
            <a:extLst>
              <a:ext uri="{FF2B5EF4-FFF2-40B4-BE49-F238E27FC236}">
                <a16:creationId xmlns:a16="http://schemas.microsoft.com/office/drawing/2014/main" id="{617D594C-209A-6A2E-5476-7566BF381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630736"/>
            <a:ext cx="11404600" cy="7669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A45790-C02A-CEDF-E399-29A56D9215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3700" y="1541417"/>
            <a:ext cx="11404600" cy="478100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defTabSz="457200">
              <a:buNone/>
              <a:defRPr b="0"/>
            </a:lvl1pPr>
          </a:lstStyle>
          <a:p>
            <a:pPr lvl="0"/>
            <a:r>
              <a:rPr lang="en-US" dirty="0"/>
              <a:t>Copy and paste from </a:t>
            </a:r>
            <a:r>
              <a:rPr lang="en-US" dirty="0" err="1"/>
              <a:t>VSCode</a:t>
            </a:r>
            <a:r>
              <a:rPr lang="en-US" dirty="0"/>
              <a:t>, change font to “</a:t>
            </a:r>
            <a:r>
              <a:rPr lang="en-US" dirty="0" err="1"/>
              <a:t>EmbedMenlo</a:t>
            </a:r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789813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(Spli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9">
            <a:extLst>
              <a:ext uri="{FF2B5EF4-FFF2-40B4-BE49-F238E27FC236}">
                <a16:creationId xmlns:a16="http://schemas.microsoft.com/office/drawing/2014/main" id="{617D594C-209A-6A2E-5476-7566BF381D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700" y="630736"/>
            <a:ext cx="5538177" cy="7669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/>
            </a:lvl1pPr>
          </a:lstStyle>
          <a:p>
            <a:r>
              <a:rPr lang="en-US" dirty="0"/>
              <a:t>Title…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A45790-C02A-CEDF-E399-29A56D9215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3700" y="1541417"/>
            <a:ext cx="5538177" cy="478100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defTabSz="457200">
              <a:buNone/>
              <a:defRPr b="0"/>
            </a:lvl1pPr>
          </a:lstStyle>
          <a:p>
            <a:pPr lvl="0"/>
            <a:r>
              <a:rPr lang="en-US" dirty="0"/>
              <a:t>Copy and paste from </a:t>
            </a:r>
            <a:r>
              <a:rPr lang="en-US" dirty="0" err="1"/>
              <a:t>VSCode</a:t>
            </a:r>
            <a:r>
              <a:rPr lang="en-US" dirty="0"/>
              <a:t>, change font to “</a:t>
            </a:r>
            <a:r>
              <a:rPr lang="en-US" dirty="0" err="1"/>
              <a:t>EmbedMenlo</a:t>
            </a:r>
            <a:r>
              <a:rPr lang="en-US" dirty="0"/>
              <a:t>”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5DF7D33-97FC-A655-63C7-39D03C3D72D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60122" y="1541417"/>
            <a:ext cx="5538177" cy="478100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defTabSz="457200">
              <a:buNone/>
              <a:defRPr b="0"/>
            </a:lvl1pPr>
          </a:lstStyle>
          <a:p>
            <a:pPr lvl="0"/>
            <a:r>
              <a:rPr lang="en-US" dirty="0"/>
              <a:t>Copy and paste from </a:t>
            </a:r>
            <a:r>
              <a:rPr lang="en-US" dirty="0" err="1"/>
              <a:t>VSCode</a:t>
            </a:r>
            <a:r>
              <a:rPr lang="en-US" dirty="0"/>
              <a:t>, change font to “</a:t>
            </a:r>
            <a:r>
              <a:rPr lang="en-US" dirty="0" err="1"/>
              <a:t>EmbedMenlo</a:t>
            </a:r>
            <a:r>
              <a:rPr lang="en-US" dirty="0"/>
              <a:t>”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E97D937-0E1C-B623-D465-8112261F9AD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60122" y="622663"/>
            <a:ext cx="5538177" cy="766989"/>
          </a:xfrm>
        </p:spPr>
        <p:txBody>
          <a:bodyPr anchor="ctr">
            <a:normAutofit/>
          </a:bodyPr>
          <a:lstStyle>
            <a:lvl1pPr marL="12700" indent="0">
              <a:buNone/>
              <a:defRPr sz="3600" b="1" i="0">
                <a:latin typeface="+mn-lt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Title…</a:t>
            </a:r>
          </a:p>
        </p:txBody>
      </p:sp>
    </p:spTree>
    <p:extLst>
      <p:ext uri="{BB962C8B-B14F-4D97-AF65-F5344CB8AC3E}">
        <p14:creationId xmlns:p14="http://schemas.microsoft.com/office/powerpoint/2010/main" val="4258905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Code (Spli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9">
            <a:extLst>
              <a:ext uri="{FF2B5EF4-FFF2-40B4-BE49-F238E27FC236}">
                <a16:creationId xmlns:a16="http://schemas.microsoft.com/office/drawing/2014/main" id="{617D594C-209A-6A2E-5476-7566BF381D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700" y="630736"/>
            <a:ext cx="5538177" cy="7669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/>
            </a:lvl1pPr>
          </a:lstStyle>
          <a:p>
            <a:r>
              <a:rPr lang="en-US" dirty="0"/>
              <a:t>Title…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A45790-C02A-CEDF-E399-29A56D9215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3700" y="2292096"/>
            <a:ext cx="5538177" cy="403032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defTabSz="457200">
              <a:buNone/>
              <a:defRPr b="0"/>
            </a:lvl1pPr>
          </a:lstStyle>
          <a:p>
            <a:pPr lvl="0"/>
            <a:r>
              <a:rPr lang="en-US" dirty="0"/>
              <a:t>Copy and paste from </a:t>
            </a:r>
            <a:r>
              <a:rPr lang="en-US" dirty="0" err="1"/>
              <a:t>VSCode</a:t>
            </a:r>
            <a:r>
              <a:rPr lang="en-US" dirty="0"/>
              <a:t>, change font to “</a:t>
            </a:r>
            <a:r>
              <a:rPr lang="en-US" dirty="0" err="1"/>
              <a:t>EmbedMenlo</a:t>
            </a:r>
            <a:r>
              <a:rPr lang="en-US" dirty="0"/>
              <a:t>”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5DF7D33-97FC-A655-63C7-39D03C3D72D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60122" y="2292095"/>
            <a:ext cx="5538177" cy="40303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defTabSz="457200">
              <a:buNone/>
              <a:defRPr b="0"/>
            </a:lvl1pPr>
          </a:lstStyle>
          <a:p>
            <a:pPr lvl="0"/>
            <a:r>
              <a:rPr lang="en-US" dirty="0"/>
              <a:t>Copy and paste from </a:t>
            </a:r>
            <a:r>
              <a:rPr lang="en-US" dirty="0" err="1"/>
              <a:t>VSCode</a:t>
            </a:r>
            <a:r>
              <a:rPr lang="en-US" dirty="0"/>
              <a:t>, change font to “</a:t>
            </a:r>
            <a:r>
              <a:rPr lang="en-US" dirty="0" err="1"/>
              <a:t>EmbedMenlo</a:t>
            </a:r>
            <a:r>
              <a:rPr lang="en-US" dirty="0"/>
              <a:t>”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E97D937-0E1C-B623-D465-8112261F9AD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60122" y="622663"/>
            <a:ext cx="5538177" cy="766989"/>
          </a:xfrm>
        </p:spPr>
        <p:txBody>
          <a:bodyPr anchor="ctr">
            <a:normAutofit/>
          </a:bodyPr>
          <a:lstStyle>
            <a:lvl1pPr marL="12700" indent="0">
              <a:buNone/>
              <a:defRPr sz="3600" b="1" i="0">
                <a:latin typeface="+mn-lt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Title…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829D3D3-AFAF-48B7-16B6-4D3973734E0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93700" y="1541416"/>
            <a:ext cx="5538177" cy="4280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2pPr marL="465137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B2832094-13F0-2F68-4EE0-AE99D9D1DF0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60121" y="1541415"/>
            <a:ext cx="5538177" cy="4280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2pPr marL="465137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19977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9">
            <a:extLst>
              <a:ext uri="{FF2B5EF4-FFF2-40B4-BE49-F238E27FC236}">
                <a16:creationId xmlns:a16="http://schemas.microsoft.com/office/drawing/2014/main" id="{617D594C-209A-6A2E-5476-7566BF381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630736"/>
            <a:ext cx="11404600" cy="7669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A45790-C02A-CEDF-E399-29A56D9215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3700" y="2286000"/>
            <a:ext cx="11404600" cy="403642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defTabSz="457200">
              <a:buNone/>
              <a:defRPr b="0"/>
            </a:lvl1pPr>
          </a:lstStyle>
          <a:p>
            <a:pPr lvl="0"/>
            <a:r>
              <a:rPr lang="en-US" dirty="0"/>
              <a:t>Copy and paste from </a:t>
            </a:r>
            <a:r>
              <a:rPr lang="en-US" dirty="0" err="1"/>
              <a:t>VSCode</a:t>
            </a:r>
            <a:r>
              <a:rPr lang="en-US" dirty="0"/>
              <a:t>, change font to “</a:t>
            </a:r>
            <a:r>
              <a:rPr lang="en-US" dirty="0" err="1"/>
              <a:t>EmbedMenlo</a:t>
            </a:r>
            <a:r>
              <a:rPr lang="en-US" dirty="0"/>
              <a:t>”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B6952CC-7606-1503-DA69-7B64A2CBB12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93700" y="1541416"/>
            <a:ext cx="11404600" cy="4280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2pPr marL="465137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44413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57B97-C797-EE19-605A-6A06404F4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045505"/>
            <a:ext cx="11404600" cy="766989"/>
          </a:xfrm>
        </p:spPr>
        <p:txBody>
          <a:bodyPr>
            <a:no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23" name="Progress" hidden="1">
            <a:extLst>
              <a:ext uri="{FF2B5EF4-FFF2-40B4-BE49-F238E27FC236}">
                <a16:creationId xmlns:a16="http://schemas.microsoft.com/office/drawing/2014/main" id="{E9127DEA-4826-1DF9-139A-959F82B08C8C}"/>
              </a:ext>
            </a:extLst>
          </p:cNvPr>
          <p:cNvGrpSpPr/>
          <p:nvPr userDrawn="1"/>
        </p:nvGrpSpPr>
        <p:grpSpPr>
          <a:xfrm>
            <a:off x="400655" y="351450"/>
            <a:ext cx="11390690" cy="407444"/>
            <a:chOff x="400655" y="351450"/>
            <a:chExt cx="11390690" cy="407444"/>
          </a:xfrm>
        </p:grpSpPr>
        <p:sp>
          <p:nvSpPr>
            <p:cNvPr id="3" name="Title 1">
              <a:extLst>
                <a:ext uri="{FF2B5EF4-FFF2-40B4-BE49-F238E27FC236}">
                  <a16:creationId xmlns:a16="http://schemas.microsoft.com/office/drawing/2014/main" id="{B3FACFB4-3DD9-FAA1-D816-6893CAA82D2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00655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accent1"/>
                  </a:solidFill>
                  <a:latin typeface="+mn-lt"/>
                </a:rPr>
                <a:t>Part One</a:t>
              </a:r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70AA6F4A-DFD7-D3CF-D6A1-BDC3C773BA6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117193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Three</a:t>
              </a:r>
            </a:p>
          </p:txBody>
        </p:sp>
        <p:sp>
          <p:nvSpPr>
            <p:cNvPr id="8" name="Title 1">
              <a:extLst>
                <a:ext uri="{FF2B5EF4-FFF2-40B4-BE49-F238E27FC236}">
                  <a16:creationId xmlns:a16="http://schemas.microsoft.com/office/drawing/2014/main" id="{74024151-AC91-BD76-7104-B23750F21E0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475462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Four</a:t>
              </a:r>
            </a:p>
          </p:txBody>
        </p:sp>
        <p:sp>
          <p:nvSpPr>
            <p:cNvPr id="9" name="Title 1">
              <a:extLst>
                <a:ext uri="{FF2B5EF4-FFF2-40B4-BE49-F238E27FC236}">
                  <a16:creationId xmlns:a16="http://schemas.microsoft.com/office/drawing/2014/main" id="{1CDAC4CE-0FC9-EB23-75E7-1AF06E39D48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833731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Five</a:t>
              </a:r>
            </a:p>
          </p:txBody>
        </p:sp>
        <p:sp>
          <p:nvSpPr>
            <p:cNvPr id="10" name="Title 1">
              <a:extLst>
                <a:ext uri="{FF2B5EF4-FFF2-40B4-BE49-F238E27FC236}">
                  <a16:creationId xmlns:a16="http://schemas.microsoft.com/office/drawing/2014/main" id="{84B625F8-E8A5-50D3-A831-E21A3D4C51E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758924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Two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98164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57B97-C797-EE19-605A-6A06404F4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045505"/>
            <a:ext cx="11404600" cy="766989"/>
          </a:xfrm>
        </p:spPr>
        <p:txBody>
          <a:bodyPr>
            <a:no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23" name="Progress" hidden="1">
            <a:extLst>
              <a:ext uri="{FF2B5EF4-FFF2-40B4-BE49-F238E27FC236}">
                <a16:creationId xmlns:a16="http://schemas.microsoft.com/office/drawing/2014/main" id="{E9127DEA-4826-1DF9-139A-959F82B08C8C}"/>
              </a:ext>
            </a:extLst>
          </p:cNvPr>
          <p:cNvGrpSpPr/>
          <p:nvPr userDrawn="1"/>
        </p:nvGrpSpPr>
        <p:grpSpPr>
          <a:xfrm>
            <a:off x="400655" y="351450"/>
            <a:ext cx="11390690" cy="407444"/>
            <a:chOff x="400655" y="351450"/>
            <a:chExt cx="11390690" cy="407444"/>
          </a:xfrm>
        </p:grpSpPr>
        <p:sp>
          <p:nvSpPr>
            <p:cNvPr id="3" name="Title 1">
              <a:extLst>
                <a:ext uri="{FF2B5EF4-FFF2-40B4-BE49-F238E27FC236}">
                  <a16:creationId xmlns:a16="http://schemas.microsoft.com/office/drawing/2014/main" id="{B3FACFB4-3DD9-FAA1-D816-6893CAA82D2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00655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accent1"/>
                  </a:solidFill>
                  <a:latin typeface="+mn-lt"/>
                </a:rPr>
                <a:t>Part One</a:t>
              </a:r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70AA6F4A-DFD7-D3CF-D6A1-BDC3C773BA6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117193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Three</a:t>
              </a:r>
            </a:p>
          </p:txBody>
        </p:sp>
        <p:sp>
          <p:nvSpPr>
            <p:cNvPr id="8" name="Title 1">
              <a:extLst>
                <a:ext uri="{FF2B5EF4-FFF2-40B4-BE49-F238E27FC236}">
                  <a16:creationId xmlns:a16="http://schemas.microsoft.com/office/drawing/2014/main" id="{74024151-AC91-BD76-7104-B23750F21E0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475462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Four</a:t>
              </a:r>
            </a:p>
          </p:txBody>
        </p:sp>
        <p:sp>
          <p:nvSpPr>
            <p:cNvPr id="9" name="Title 1">
              <a:extLst>
                <a:ext uri="{FF2B5EF4-FFF2-40B4-BE49-F238E27FC236}">
                  <a16:creationId xmlns:a16="http://schemas.microsoft.com/office/drawing/2014/main" id="{1CDAC4CE-0FC9-EB23-75E7-1AF06E39D48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833731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Five</a:t>
              </a:r>
            </a:p>
          </p:txBody>
        </p:sp>
        <p:sp>
          <p:nvSpPr>
            <p:cNvPr id="10" name="Title 1">
              <a:extLst>
                <a:ext uri="{FF2B5EF4-FFF2-40B4-BE49-F238E27FC236}">
                  <a16:creationId xmlns:a16="http://schemas.microsoft.com/office/drawing/2014/main" id="{84B625F8-E8A5-50D3-A831-E21A3D4C51E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758924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Two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89968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25027794-B941-2626-D5A5-1743066A53E5}"/>
              </a:ext>
            </a:extLst>
          </p:cNvPr>
          <p:cNvGrpSpPr/>
          <p:nvPr userDrawn="1"/>
        </p:nvGrpSpPr>
        <p:grpSpPr>
          <a:xfrm>
            <a:off x="4112677" y="1066910"/>
            <a:ext cx="3966646" cy="4724180"/>
            <a:chOff x="3649000" y="1222454"/>
            <a:chExt cx="3966646" cy="472418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D7A2B90F-0DC5-C82B-0450-B6A7AD955F3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alphaModFix amt="70000"/>
            </a:blip>
            <a:srcRect l="445" t="1999" r="1"/>
            <a:stretch/>
          </p:blipFill>
          <p:spPr>
            <a:xfrm>
              <a:off x="3804749" y="1222454"/>
              <a:ext cx="3655148" cy="4202604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B2BF6CA-FBA8-F81A-8B02-4451CF35C963}"/>
                </a:ext>
              </a:extLst>
            </p:cNvPr>
            <p:cNvSpPr txBox="1"/>
            <p:nvPr userDrawn="1"/>
          </p:nvSpPr>
          <p:spPr>
            <a:xfrm>
              <a:off x="3649000" y="5577302"/>
              <a:ext cx="39666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0" dirty="0" err="1">
                  <a:solidFill>
                    <a:schemeClr val="bg1">
                      <a:lumMod val="65000"/>
                    </a:schemeClr>
                  </a:solidFill>
                  <a:latin typeface="Cascadia Mono" panose="020B0609020000020004" pitchFamily="34" charset="0"/>
                  <a:ea typeface="Cascadia Mono" panose="020B0609020000020004" pitchFamily="34" charset="0"/>
                  <a:cs typeface="Cascadia Mono" panose="020B0609020000020004" pitchFamily="34" charset="0"/>
                </a:rPr>
                <a:t>bjarne_about_to_raise_hand</a:t>
              </a:r>
              <a:endParaRPr lang="en-US" b="0" dirty="0">
                <a:solidFill>
                  <a:schemeClr val="bg1">
                    <a:lumMod val="65000"/>
                  </a:schemeClr>
                </a:solidFill>
                <a:latin typeface="Cascadia Mono" panose="020B0609020000020004" pitchFamily="34" charset="0"/>
                <a:ea typeface="Cascadia Mono" panose="020B0609020000020004" pitchFamily="34" charset="0"/>
                <a:cs typeface="Cascadia Mono" panose="020B0609020000020004" pitchFamily="34" charset="0"/>
              </a:endParaRPr>
            </a:p>
          </p:txBody>
        </p:sp>
      </p:grpSp>
      <p:grpSp>
        <p:nvGrpSpPr>
          <p:cNvPr id="23" name="Progress" hidden="1">
            <a:extLst>
              <a:ext uri="{FF2B5EF4-FFF2-40B4-BE49-F238E27FC236}">
                <a16:creationId xmlns:a16="http://schemas.microsoft.com/office/drawing/2014/main" id="{E9127DEA-4826-1DF9-139A-959F82B08C8C}"/>
              </a:ext>
            </a:extLst>
          </p:cNvPr>
          <p:cNvGrpSpPr/>
          <p:nvPr userDrawn="1"/>
        </p:nvGrpSpPr>
        <p:grpSpPr>
          <a:xfrm>
            <a:off x="400655" y="351450"/>
            <a:ext cx="11390690" cy="407444"/>
            <a:chOff x="400655" y="351450"/>
            <a:chExt cx="11390690" cy="407444"/>
          </a:xfrm>
        </p:grpSpPr>
        <p:sp>
          <p:nvSpPr>
            <p:cNvPr id="3" name="Title 1">
              <a:extLst>
                <a:ext uri="{FF2B5EF4-FFF2-40B4-BE49-F238E27FC236}">
                  <a16:creationId xmlns:a16="http://schemas.microsoft.com/office/drawing/2014/main" id="{B3FACFB4-3DD9-FAA1-D816-6893CAA82D2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00655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accent1"/>
                  </a:solidFill>
                  <a:latin typeface="+mn-lt"/>
                </a:rPr>
                <a:t>Part One</a:t>
              </a:r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70AA6F4A-DFD7-D3CF-D6A1-BDC3C773BA6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117193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Three</a:t>
              </a:r>
            </a:p>
          </p:txBody>
        </p:sp>
        <p:sp>
          <p:nvSpPr>
            <p:cNvPr id="8" name="Title 1">
              <a:extLst>
                <a:ext uri="{FF2B5EF4-FFF2-40B4-BE49-F238E27FC236}">
                  <a16:creationId xmlns:a16="http://schemas.microsoft.com/office/drawing/2014/main" id="{74024151-AC91-BD76-7104-B23750F21E0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475462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Four</a:t>
              </a:r>
            </a:p>
          </p:txBody>
        </p:sp>
        <p:sp>
          <p:nvSpPr>
            <p:cNvPr id="9" name="Title 1">
              <a:extLst>
                <a:ext uri="{FF2B5EF4-FFF2-40B4-BE49-F238E27FC236}">
                  <a16:creationId xmlns:a16="http://schemas.microsoft.com/office/drawing/2014/main" id="{1CDAC4CE-0FC9-EB23-75E7-1AF06E39D48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833731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Five</a:t>
              </a:r>
            </a:p>
          </p:txBody>
        </p:sp>
        <p:sp>
          <p:nvSpPr>
            <p:cNvPr id="10" name="Title 1">
              <a:extLst>
                <a:ext uri="{FF2B5EF4-FFF2-40B4-BE49-F238E27FC236}">
                  <a16:creationId xmlns:a16="http://schemas.microsoft.com/office/drawing/2014/main" id="{84B625F8-E8A5-50D3-A831-E21A3D4C51E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758924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Two</a:t>
              </a:r>
            </a:p>
          </p:txBody>
        </p:sp>
      </p:grpSp>
      <p:sp>
        <p:nvSpPr>
          <p:cNvPr id="18" name="Title 1">
            <a:extLst>
              <a:ext uri="{FF2B5EF4-FFF2-40B4-BE49-F238E27FC236}">
                <a16:creationId xmlns:a16="http://schemas.microsoft.com/office/drawing/2014/main" id="{149784FE-97D8-B501-6D0F-4F85DDE4EE26}"/>
              </a:ext>
            </a:extLst>
          </p:cNvPr>
          <p:cNvSpPr txBox="1">
            <a:spLocks/>
          </p:cNvSpPr>
          <p:nvPr userDrawn="1"/>
        </p:nvSpPr>
        <p:spPr>
          <a:xfrm>
            <a:off x="393700" y="3045506"/>
            <a:ext cx="11404600" cy="7669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i="0" kern="1200">
                <a:solidFill>
                  <a:schemeClr val="tx1"/>
                </a:solidFill>
                <a:latin typeface="+mj-lt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US" dirty="0"/>
              <a:t>What questions do you have?</a:t>
            </a:r>
          </a:p>
        </p:txBody>
      </p:sp>
    </p:spTree>
    <p:extLst>
      <p:ext uri="{BB962C8B-B14F-4D97-AF65-F5344CB8AC3E}">
        <p14:creationId xmlns:p14="http://schemas.microsoft.com/office/powerpoint/2010/main" val="3328585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Progress" hidden="1">
            <a:extLst>
              <a:ext uri="{FF2B5EF4-FFF2-40B4-BE49-F238E27FC236}">
                <a16:creationId xmlns:a16="http://schemas.microsoft.com/office/drawing/2014/main" id="{E9127DEA-4826-1DF9-139A-959F82B08C8C}"/>
              </a:ext>
            </a:extLst>
          </p:cNvPr>
          <p:cNvGrpSpPr/>
          <p:nvPr userDrawn="1"/>
        </p:nvGrpSpPr>
        <p:grpSpPr>
          <a:xfrm>
            <a:off x="400655" y="351450"/>
            <a:ext cx="11390690" cy="407444"/>
            <a:chOff x="400655" y="351450"/>
            <a:chExt cx="11390690" cy="407444"/>
          </a:xfrm>
        </p:grpSpPr>
        <p:sp>
          <p:nvSpPr>
            <p:cNvPr id="3" name="Title 1">
              <a:extLst>
                <a:ext uri="{FF2B5EF4-FFF2-40B4-BE49-F238E27FC236}">
                  <a16:creationId xmlns:a16="http://schemas.microsoft.com/office/drawing/2014/main" id="{B3FACFB4-3DD9-FAA1-D816-6893CAA82D2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00655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accent1"/>
                  </a:solidFill>
                  <a:latin typeface="+mn-lt"/>
                </a:rPr>
                <a:t>Part One</a:t>
              </a:r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70AA6F4A-DFD7-D3CF-D6A1-BDC3C773BA6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117193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Three</a:t>
              </a:r>
            </a:p>
          </p:txBody>
        </p:sp>
        <p:sp>
          <p:nvSpPr>
            <p:cNvPr id="8" name="Title 1">
              <a:extLst>
                <a:ext uri="{FF2B5EF4-FFF2-40B4-BE49-F238E27FC236}">
                  <a16:creationId xmlns:a16="http://schemas.microsoft.com/office/drawing/2014/main" id="{74024151-AC91-BD76-7104-B23750F21E0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475462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Four</a:t>
              </a:r>
            </a:p>
          </p:txBody>
        </p:sp>
        <p:sp>
          <p:nvSpPr>
            <p:cNvPr id="9" name="Title 1">
              <a:extLst>
                <a:ext uri="{FF2B5EF4-FFF2-40B4-BE49-F238E27FC236}">
                  <a16:creationId xmlns:a16="http://schemas.microsoft.com/office/drawing/2014/main" id="{1CDAC4CE-0FC9-EB23-75E7-1AF06E39D48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833731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Five</a:t>
              </a:r>
            </a:p>
          </p:txBody>
        </p:sp>
        <p:sp>
          <p:nvSpPr>
            <p:cNvPr id="10" name="Title 1">
              <a:extLst>
                <a:ext uri="{FF2B5EF4-FFF2-40B4-BE49-F238E27FC236}">
                  <a16:creationId xmlns:a16="http://schemas.microsoft.com/office/drawing/2014/main" id="{84B625F8-E8A5-50D3-A831-E21A3D4C51E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758924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Two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29162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ve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Progress" hidden="1">
            <a:extLst>
              <a:ext uri="{FF2B5EF4-FFF2-40B4-BE49-F238E27FC236}">
                <a16:creationId xmlns:a16="http://schemas.microsoft.com/office/drawing/2014/main" id="{E9127DEA-4826-1DF9-139A-959F82B08C8C}"/>
              </a:ext>
            </a:extLst>
          </p:cNvPr>
          <p:cNvGrpSpPr/>
          <p:nvPr userDrawn="1"/>
        </p:nvGrpSpPr>
        <p:grpSpPr>
          <a:xfrm>
            <a:off x="400655" y="351450"/>
            <a:ext cx="11390690" cy="407444"/>
            <a:chOff x="400655" y="351450"/>
            <a:chExt cx="11390690" cy="407444"/>
          </a:xfrm>
        </p:grpSpPr>
        <p:sp>
          <p:nvSpPr>
            <p:cNvPr id="3" name="Title 1">
              <a:extLst>
                <a:ext uri="{FF2B5EF4-FFF2-40B4-BE49-F238E27FC236}">
                  <a16:creationId xmlns:a16="http://schemas.microsoft.com/office/drawing/2014/main" id="{B3FACFB4-3DD9-FAA1-D816-6893CAA82D2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00655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accent1"/>
                  </a:solidFill>
                  <a:latin typeface="+mn-lt"/>
                </a:rPr>
                <a:t>Part One</a:t>
              </a:r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70AA6F4A-DFD7-D3CF-D6A1-BDC3C773BA6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117193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Three</a:t>
              </a:r>
            </a:p>
          </p:txBody>
        </p:sp>
        <p:sp>
          <p:nvSpPr>
            <p:cNvPr id="8" name="Title 1">
              <a:extLst>
                <a:ext uri="{FF2B5EF4-FFF2-40B4-BE49-F238E27FC236}">
                  <a16:creationId xmlns:a16="http://schemas.microsoft.com/office/drawing/2014/main" id="{74024151-AC91-BD76-7104-B23750F21E0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475462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Four</a:t>
              </a:r>
            </a:p>
          </p:txBody>
        </p:sp>
        <p:sp>
          <p:nvSpPr>
            <p:cNvPr id="9" name="Title 1">
              <a:extLst>
                <a:ext uri="{FF2B5EF4-FFF2-40B4-BE49-F238E27FC236}">
                  <a16:creationId xmlns:a16="http://schemas.microsoft.com/office/drawing/2014/main" id="{1CDAC4CE-0FC9-EB23-75E7-1AF06E39D48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833731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Five</a:t>
              </a:r>
            </a:p>
          </p:txBody>
        </p:sp>
        <p:sp>
          <p:nvSpPr>
            <p:cNvPr id="10" name="Title 1">
              <a:extLst>
                <a:ext uri="{FF2B5EF4-FFF2-40B4-BE49-F238E27FC236}">
                  <a16:creationId xmlns:a16="http://schemas.microsoft.com/office/drawing/2014/main" id="{84B625F8-E8A5-50D3-A831-E21A3D4C51E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758924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Two</a:t>
              </a:r>
            </a:p>
          </p:txBody>
        </p:sp>
      </p:grp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832A7EA-75A7-4FF6-88BA-67316A6177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0655" y="3561869"/>
            <a:ext cx="11390690" cy="893097"/>
          </a:xfrm>
          <a:noFill/>
        </p:spPr>
        <p:txBody>
          <a:bodyPr>
            <a:noAutofit/>
          </a:bodyPr>
          <a:lstStyle>
            <a:lvl1pPr marL="12700" indent="0" algn="ctr">
              <a:buNone/>
              <a:defRPr sz="360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defRPr>
            </a:lvl1pPr>
          </a:lstStyle>
          <a:p>
            <a:pPr lvl="0"/>
            <a:r>
              <a:rPr lang="en-US" dirty="0"/>
              <a:t>106l.vercel.app/room-name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988078-F97E-71A4-7467-F4A3C5433668}"/>
              </a:ext>
            </a:extLst>
          </p:cNvPr>
          <p:cNvSpPr txBox="1"/>
          <p:nvPr userDrawn="1"/>
        </p:nvSpPr>
        <p:spPr>
          <a:xfrm>
            <a:off x="400655" y="2628781"/>
            <a:ext cx="1139069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600" b="1" dirty="0">
                <a:latin typeface="+mj-lt"/>
              </a:rPr>
              <a:t>Let’s code this together 👫</a:t>
            </a:r>
          </a:p>
        </p:txBody>
      </p:sp>
    </p:spTree>
    <p:extLst>
      <p:ext uri="{BB962C8B-B14F-4D97-AF65-F5344CB8AC3E}">
        <p14:creationId xmlns:p14="http://schemas.microsoft.com/office/powerpoint/2010/main" val="2651077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12B2D6-7D75-B395-93E3-F52F803B2B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3700" y="1397725"/>
            <a:ext cx="11404600" cy="49246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9">
            <a:extLst>
              <a:ext uri="{FF2B5EF4-FFF2-40B4-BE49-F238E27FC236}">
                <a16:creationId xmlns:a16="http://schemas.microsoft.com/office/drawing/2014/main" id="{6A4324FB-ACCF-364A-8689-6F02E4D75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630736"/>
            <a:ext cx="11404600" cy="7669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38658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7" r:id="rId4"/>
    <p:sldLayoutId id="2147483658" r:id="rId5"/>
    <p:sldLayoutId id="2147483655" r:id="rId6"/>
    <p:sldLayoutId id="2147483651" r:id="rId7"/>
    <p:sldLayoutId id="2147483652" r:id="rId8"/>
    <p:sldLayoutId id="2147483653" r:id="rId9"/>
    <p:sldLayoutId id="2147483656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tx1"/>
          </a:solidFill>
          <a:latin typeface="+mj-lt"/>
          <a:ea typeface="Open Sans SemiBold" pitchFamily="2" charset="0"/>
          <a:cs typeface="Open Sans SemiBold" pitchFamily="2" charset="0"/>
        </a:defRPr>
      </a:lvl1pPr>
    </p:titleStyle>
    <p:bodyStyle>
      <a:lvl1pPr marL="349250" indent="-336550" algn="l" defTabSz="914400" rtl="0" eaLnBrk="1" latinLnBrk="0" hangingPunct="1">
        <a:lnSpc>
          <a:spcPct val="90000"/>
        </a:lnSpc>
        <a:spcBef>
          <a:spcPts val="1000"/>
        </a:spcBef>
        <a:buSzPct val="125000"/>
        <a:buFont typeface="Arial" panose="020B0604020202020204" pitchFamily="34" charset="0"/>
        <a:buChar char="•"/>
        <a:tabLst/>
        <a:defRPr sz="2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3813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270000" indent="-35083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722438" indent="-3492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176463" indent="-3365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67_37715FD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8D3DBDF-52E0-B9FF-AE37-067244ECB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Welcome back! Link to Attendance Form ↓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76C70B9-E8DA-B5A9-4CAF-4395374AEE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862" t="5862" r="5862" b="5862"/>
          <a:stretch/>
        </p:blipFill>
        <p:spPr>
          <a:xfrm>
            <a:off x="3968093" y="1775372"/>
            <a:ext cx="4255814" cy="425581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44097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10076C2-D582-3CB6-8DE5-86D1039AAF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are classes?</a:t>
            </a:r>
          </a:p>
          <a:p>
            <a:pPr lvl="1"/>
            <a:r>
              <a:rPr lang="en-US" dirty="0"/>
              <a:t>Turn to the person next to you and think of one thing you remember from Tuesday’s lecture!</a:t>
            </a:r>
          </a:p>
          <a:p>
            <a:r>
              <a:rPr lang="en-US" dirty="0"/>
              <a:t>A class bundles data and methods for an object together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0C07F76-8A36-7A13-449C-9D094C515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Time: Classes</a:t>
            </a:r>
          </a:p>
        </p:txBody>
      </p:sp>
    </p:spTree>
    <p:extLst>
      <p:ext uri="{BB962C8B-B14F-4D97-AF65-F5344CB8AC3E}">
        <p14:creationId xmlns:p14="http://schemas.microsoft.com/office/powerpoint/2010/main" val="3659245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A6FE8-8ECC-4648-DC14-9277CBA88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Point</a:t>
            </a:r>
            <a:r>
              <a:rPr lang="en-US" dirty="0"/>
              <a:t> on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4E416-A6E3-8F01-0F64-E33FEE0F5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Point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Point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y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~Point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getX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getY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void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setX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void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setY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private: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x;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y;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89FAE66-BBC5-F5AD-7E73-41F10A428A41}"/>
              </a:ext>
            </a:extLst>
          </p:cNvPr>
          <p:cNvSpPr txBox="1">
            <a:spLocks/>
          </p:cNvSpPr>
          <p:nvPr/>
        </p:nvSpPr>
        <p:spPr>
          <a:xfrm>
            <a:off x="6703470" y="1241859"/>
            <a:ext cx="4715454" cy="98011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</a:p>
          <a:p>
            <a:r>
              <a:rPr lang="en-US" sz="20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Accessible by everyone! </a:t>
            </a:r>
            <a:endParaRPr lang="en-US" sz="2000" b="1" dirty="0"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cxnSp>
        <p:nvCxnSpPr>
          <p:cNvPr id="7" name="Straight Arrow Connector 4">
            <a:extLst>
              <a:ext uri="{FF2B5EF4-FFF2-40B4-BE49-F238E27FC236}">
                <a16:creationId xmlns:a16="http://schemas.microsoft.com/office/drawing/2014/main" id="{719C2BD4-3CE8-D31F-14ED-C38A23BA202A}"/>
              </a:ext>
            </a:extLst>
          </p:cNvPr>
          <p:cNvCxnSpPr>
            <a:cxnSpLocks/>
            <a:stCxn id="6" idx="1"/>
          </p:cNvCxnSpPr>
          <p:nvPr/>
        </p:nvCxnSpPr>
        <p:spPr>
          <a:xfrm rot="10800000" flipV="1">
            <a:off x="3988676" y="1731914"/>
            <a:ext cx="2714794" cy="364899"/>
          </a:xfrm>
          <a:prstGeom prst="curvedConnector3">
            <a:avLst>
              <a:gd name="adj1" fmla="val 50000"/>
            </a:avLst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58BB830-739D-F472-C474-859D90F0B941}"/>
              </a:ext>
            </a:extLst>
          </p:cNvPr>
          <p:cNvSpPr txBox="1">
            <a:spLocks/>
          </p:cNvSpPr>
          <p:nvPr/>
        </p:nvSpPr>
        <p:spPr>
          <a:xfrm>
            <a:off x="6703470" y="5339304"/>
            <a:ext cx="4715454" cy="124334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private:</a:t>
            </a:r>
          </a:p>
          <a:p>
            <a:r>
              <a:rPr lang="en-US" sz="20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Only visible to us! Implementation details</a:t>
            </a:r>
            <a:endParaRPr lang="en-US" sz="2000" b="1" dirty="0"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cxnSp>
        <p:nvCxnSpPr>
          <p:cNvPr id="14" name="Straight Arrow Connector 4">
            <a:extLst>
              <a:ext uri="{FF2B5EF4-FFF2-40B4-BE49-F238E27FC236}">
                <a16:creationId xmlns:a16="http://schemas.microsoft.com/office/drawing/2014/main" id="{843051EA-C928-EA46-AFB0-962E1A3283B6}"/>
              </a:ext>
            </a:extLst>
          </p:cNvPr>
          <p:cNvCxnSpPr>
            <a:cxnSpLocks/>
            <a:stCxn id="13" idx="1"/>
          </p:cNvCxnSpPr>
          <p:nvPr/>
        </p:nvCxnSpPr>
        <p:spPr>
          <a:xfrm rot="10800000">
            <a:off x="3578772" y="4650829"/>
            <a:ext cx="3124698" cy="1310151"/>
          </a:xfrm>
          <a:prstGeom prst="curvedConnector3">
            <a:avLst>
              <a:gd name="adj1" fmla="val 50000"/>
            </a:avLst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C88BC9CF-F471-F094-7737-20FEE53C3B6E}"/>
              </a:ext>
            </a:extLst>
          </p:cNvPr>
          <p:cNvSpPr txBox="1">
            <a:spLocks/>
          </p:cNvSpPr>
          <p:nvPr/>
        </p:nvSpPr>
        <p:spPr>
          <a:xfrm>
            <a:off x="6703470" y="2488717"/>
            <a:ext cx="4715454" cy="98011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chemeClr val="accent1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constructor</a:t>
            </a:r>
          </a:p>
          <a:p>
            <a:r>
              <a:rPr lang="en-US" sz="20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Initializes this class</a:t>
            </a:r>
            <a:endParaRPr lang="en-US" sz="2000" b="1" dirty="0"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cxnSp>
        <p:nvCxnSpPr>
          <p:cNvPr id="23" name="Straight Arrow Connector 4">
            <a:extLst>
              <a:ext uri="{FF2B5EF4-FFF2-40B4-BE49-F238E27FC236}">
                <a16:creationId xmlns:a16="http://schemas.microsoft.com/office/drawing/2014/main" id="{F8E979E3-F542-2D15-609B-2314297056D8}"/>
              </a:ext>
            </a:extLst>
          </p:cNvPr>
          <p:cNvCxnSpPr>
            <a:cxnSpLocks/>
            <a:stCxn id="18" idx="1"/>
          </p:cNvCxnSpPr>
          <p:nvPr/>
        </p:nvCxnSpPr>
        <p:spPr>
          <a:xfrm rot="10800000">
            <a:off x="3988676" y="2488718"/>
            <a:ext cx="2714794" cy="490057"/>
          </a:xfrm>
          <a:prstGeom prst="curvedConnector3">
            <a:avLst>
              <a:gd name="adj1" fmla="val 50000"/>
            </a:avLst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D8E78F32-CE8F-7441-D732-9A9E2F55AEB6}"/>
              </a:ext>
            </a:extLst>
          </p:cNvPr>
          <p:cNvSpPr txBox="1">
            <a:spLocks/>
          </p:cNvSpPr>
          <p:nvPr/>
        </p:nvSpPr>
        <p:spPr>
          <a:xfrm>
            <a:off x="6703470" y="3781595"/>
            <a:ext cx="4715454" cy="132848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chemeClr val="accent1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destructor</a:t>
            </a:r>
          </a:p>
          <a:p>
            <a:r>
              <a:rPr lang="en-US" sz="20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Cleans up this class</a:t>
            </a:r>
          </a:p>
          <a:p>
            <a:r>
              <a:rPr lang="en-US" sz="20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Usually don’t need this</a:t>
            </a:r>
          </a:p>
        </p:txBody>
      </p:sp>
      <p:cxnSp>
        <p:nvCxnSpPr>
          <p:cNvPr id="27" name="Straight Arrow Connector 4">
            <a:extLst>
              <a:ext uri="{FF2B5EF4-FFF2-40B4-BE49-F238E27FC236}">
                <a16:creationId xmlns:a16="http://schemas.microsoft.com/office/drawing/2014/main" id="{164EFC6E-DDA7-A723-C6EB-6C95785044CB}"/>
              </a:ext>
            </a:extLst>
          </p:cNvPr>
          <p:cNvCxnSpPr>
            <a:cxnSpLocks/>
            <a:stCxn id="26" idx="1"/>
          </p:cNvCxnSpPr>
          <p:nvPr/>
        </p:nvCxnSpPr>
        <p:spPr>
          <a:xfrm rot="10800000">
            <a:off x="2443656" y="2822029"/>
            <a:ext cx="4259815" cy="1623807"/>
          </a:xfrm>
          <a:prstGeom prst="curvedConnector3">
            <a:avLst>
              <a:gd name="adj1" fmla="val 50000"/>
            </a:avLst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1583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3" grpId="0" animBg="1"/>
      <p:bldP spid="18" grpId="0" animBg="1"/>
      <p:bldP spid="2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D28ED-8900-F80B-624B-8D534B6C0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630736"/>
            <a:ext cx="11404599" cy="766989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Point</a:t>
            </a:r>
            <a:r>
              <a:rPr lang="en-US" dirty="0"/>
              <a:t> on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3A8463-EA2A-7627-10E2-47239FC349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498072"/>
            <a:ext cx="5538177" cy="3861856"/>
          </a:xfrm>
        </p:spPr>
        <p:txBody>
          <a:bodyPr>
            <a:normAutofit fontScale="62500" lnSpcReduction="20000"/>
          </a:bodyPr>
          <a:lstStyle/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Point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Point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y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~Point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getX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getY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private: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x;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y;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string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color;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EF365E-4D0A-9EE1-AC51-C2F9AE676F4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60122" y="1498072"/>
            <a:ext cx="5538177" cy="3861856"/>
          </a:xfrm>
        </p:spPr>
        <p:txBody>
          <a:bodyPr>
            <a:normAutofit fontScale="62500" lnSpcReduction="20000"/>
          </a:bodyPr>
          <a:lstStyle/>
          <a:p>
            <a:r>
              <a:rPr lang="en-US" b="0" dirty="0">
                <a:solidFill>
                  <a:srgbClr val="D73A48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#include </a:t>
            </a:r>
            <a:r>
              <a:rPr lang="en-US" b="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“</a:t>
            </a:r>
            <a:r>
              <a:rPr lang="en-US" dirty="0" err="1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</a:t>
            </a:r>
            <a:r>
              <a:rPr lang="en-US" b="0" dirty="0" err="1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oint.h</a:t>
            </a:r>
            <a:r>
              <a:rPr lang="en-US" b="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”</a:t>
            </a:r>
          </a:p>
          <a:p>
            <a:endParaRPr lang="en-US" b="0" dirty="0">
              <a:solidFill>
                <a:srgbClr val="6F42C1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Point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Point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y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</a:p>
          <a:p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 x(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), y(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y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{}</a:t>
            </a: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Point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getX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x;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Point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getY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y;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AE704B9-A0FE-5126-00C5-A7CC23A9B0A6}"/>
              </a:ext>
            </a:extLst>
          </p:cNvPr>
          <p:cNvSpPr txBox="1">
            <a:spLocks/>
          </p:cNvSpPr>
          <p:nvPr/>
        </p:nvSpPr>
        <p:spPr>
          <a:xfrm>
            <a:off x="393699" y="5571111"/>
            <a:ext cx="5538177" cy="106521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 err="1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Point.h</a:t>
            </a:r>
            <a:r>
              <a:rPr lang="en-US" sz="1800" b="1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(header file)</a:t>
            </a:r>
          </a:p>
          <a:p>
            <a:r>
              <a:rPr lang="en-US" sz="1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Contains </a:t>
            </a:r>
            <a:r>
              <a:rPr lang="en-US" sz="1800" b="1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interface, declarations</a:t>
            </a:r>
            <a:r>
              <a:rPr lang="en-US" sz="1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endParaRPr lang="en-US" sz="1800" b="1" dirty="0"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221CD9-7840-FF8E-3F04-E6785A7D9D05}"/>
              </a:ext>
            </a:extLst>
          </p:cNvPr>
          <p:cNvSpPr txBox="1">
            <a:spLocks/>
          </p:cNvSpPr>
          <p:nvPr/>
        </p:nvSpPr>
        <p:spPr>
          <a:xfrm>
            <a:off x="6260122" y="5571111"/>
            <a:ext cx="5538177" cy="106521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 err="1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Point.cpp</a:t>
            </a:r>
            <a:endParaRPr lang="en-US" sz="1800" b="1" dirty="0">
              <a:solidFill>
                <a:srgbClr val="D73A48"/>
              </a:solidFill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1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Contains </a:t>
            </a:r>
            <a:r>
              <a:rPr lang="en-US" sz="1800" b="1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implementation, definitions</a:t>
            </a:r>
            <a:r>
              <a:rPr lang="en-US" sz="1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endParaRPr lang="en-US" sz="1800" b="1" dirty="0"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2326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50E32-AD45-9147-BE98-2799E0A0C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29000"/>
            <a:ext cx="11404600" cy="653420"/>
          </a:xfrm>
        </p:spPr>
        <p:txBody>
          <a:bodyPr/>
          <a:lstStyle/>
          <a:p>
            <a:r>
              <a:rPr lang="en-US" dirty="0"/>
              <a:t>It’s a </a:t>
            </a:r>
            <a:r>
              <a:rPr lang="en-US" dirty="0">
                <a:solidFill>
                  <a:srgbClr val="D73A48"/>
                </a:solidFill>
              </a:rPr>
              <a:t>pointer</a:t>
            </a:r>
            <a:r>
              <a:rPr lang="en-US" dirty="0"/>
              <a:t> to the current class instance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32C9E1F-CC44-C6A3-BEB1-297C23BC75A1}"/>
              </a:ext>
            </a:extLst>
          </p:cNvPr>
          <p:cNvSpPr txBox="1">
            <a:spLocks/>
          </p:cNvSpPr>
          <p:nvPr/>
        </p:nvSpPr>
        <p:spPr>
          <a:xfrm>
            <a:off x="393700" y="2574690"/>
            <a:ext cx="11404600" cy="7226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tx1"/>
                </a:solidFill>
                <a:latin typeface="+mj-lt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US" dirty="0"/>
              <a:t>What is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063165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08702DA-A808-52CF-06CC-B49C5AC97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importance of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FB98D17-A299-9370-EC3F-133F36058361}"/>
              </a:ext>
            </a:extLst>
          </p:cNvPr>
          <p:cNvSpPr txBox="1">
            <a:spLocks/>
          </p:cNvSpPr>
          <p:nvPr/>
        </p:nvSpPr>
        <p:spPr>
          <a:xfrm>
            <a:off x="731361" y="2660863"/>
            <a:ext cx="4981865" cy="199426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4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Point</a:t>
            </a:r>
            <a:r>
              <a:rPr lang="en-US" sz="24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400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getX</a:t>
            </a:r>
            <a:r>
              <a:rPr lang="en-US" sz="24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 {</a:t>
            </a:r>
          </a:p>
          <a:p>
            <a:r>
              <a:rPr lang="en-US" sz="24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sz="24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x;</a:t>
            </a:r>
          </a:p>
          <a:p>
            <a:r>
              <a:rPr lang="en-US" sz="24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8563B2C-B7A6-289B-954B-BDB377CE1B35}"/>
              </a:ext>
            </a:extLst>
          </p:cNvPr>
          <p:cNvSpPr txBox="1">
            <a:spLocks/>
          </p:cNvSpPr>
          <p:nvPr/>
        </p:nvSpPr>
        <p:spPr>
          <a:xfrm>
            <a:off x="6433663" y="2660862"/>
            <a:ext cx="4981865" cy="199426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Point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getX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 {</a:t>
            </a:r>
          </a:p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005CC5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-&gt;x;</a:t>
            </a:r>
          </a:p>
          <a:p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B9214A-4231-B869-AFC7-8BF9007C53A6}"/>
              </a:ext>
            </a:extLst>
          </p:cNvPr>
          <p:cNvSpPr txBox="1"/>
          <p:nvPr/>
        </p:nvSpPr>
        <p:spPr>
          <a:xfrm>
            <a:off x="4083268" y="5456595"/>
            <a:ext cx="40254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✅ These are the same</a:t>
            </a:r>
          </a:p>
        </p:txBody>
      </p:sp>
    </p:spTree>
    <p:extLst>
      <p:ext uri="{BB962C8B-B14F-4D97-AF65-F5344CB8AC3E}">
        <p14:creationId xmlns:p14="http://schemas.microsoft.com/office/powerpoint/2010/main" val="138261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2D72B-3B3F-FDE2-A405-41AFAD6E2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C9D6072-A946-14A1-9BC1-694ACC2F6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importance of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5D66D8E-B2A8-DD00-5274-3572FA412C0B}"/>
              </a:ext>
            </a:extLst>
          </p:cNvPr>
          <p:cNvSpPr txBox="1">
            <a:spLocks/>
          </p:cNvSpPr>
          <p:nvPr/>
        </p:nvSpPr>
        <p:spPr>
          <a:xfrm>
            <a:off x="6327338" y="2445489"/>
            <a:ext cx="5137810" cy="24250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void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Point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setX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</a:p>
          <a:p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{</a:t>
            </a:r>
          </a:p>
          <a:p>
            <a:r>
              <a:rPr lang="en-US" dirty="0">
                <a:solidFill>
                  <a:srgbClr val="005CC5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this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-&gt;x 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B152DD-40A3-EAE1-8019-FF6180BBB653}"/>
              </a:ext>
            </a:extLst>
          </p:cNvPr>
          <p:cNvSpPr txBox="1"/>
          <p:nvPr/>
        </p:nvSpPr>
        <p:spPr>
          <a:xfrm>
            <a:off x="4641114" y="5687430"/>
            <a:ext cx="29097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❌ Not the same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DCE3160-B3CC-9E6A-A9DD-71E22907AA4C}"/>
              </a:ext>
            </a:extLst>
          </p:cNvPr>
          <p:cNvSpPr txBox="1">
            <a:spLocks/>
          </p:cNvSpPr>
          <p:nvPr/>
        </p:nvSpPr>
        <p:spPr>
          <a:xfrm>
            <a:off x="625037" y="2445489"/>
            <a:ext cx="5137810" cy="24250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void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Point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setX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</a:p>
          <a:p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{</a:t>
            </a:r>
          </a:p>
          <a:p>
            <a:r>
              <a:rPr lang="en-US" dirty="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x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46325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D99CFC7-3130-E207-5E32-F1E044E22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</a:t>
            </a:r>
            <a:r>
              <a:rPr lang="en-US" dirty="0"/>
              <a:t>?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EF94BD8-5E88-FCA9-5A7D-D64574DF3C68}"/>
              </a:ext>
            </a:extLst>
          </p:cNvPr>
          <p:cNvSpPr txBox="1">
            <a:spLocks/>
          </p:cNvSpPr>
          <p:nvPr/>
        </p:nvSpPr>
        <p:spPr>
          <a:xfrm>
            <a:off x="3605067" y="2200638"/>
            <a:ext cx="4981865" cy="24250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Point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setX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</a:p>
          <a:p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{</a:t>
            </a:r>
          </a:p>
          <a:p>
            <a:r>
              <a:rPr lang="en-US" dirty="0">
                <a:solidFill>
                  <a:srgbClr val="005CC5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this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-&gt;x 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A148159-7C19-373E-E1F0-306417F3C6B4}"/>
              </a:ext>
            </a:extLst>
          </p:cNvPr>
          <p:cNvSpPr txBox="1">
            <a:spLocks/>
          </p:cNvSpPr>
          <p:nvPr/>
        </p:nvSpPr>
        <p:spPr>
          <a:xfrm>
            <a:off x="2769424" y="5247152"/>
            <a:ext cx="2291674" cy="98011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Point* </a:t>
            </a:r>
            <a:r>
              <a:rPr lang="en-US" sz="2000" dirty="0">
                <a:solidFill>
                  <a:srgbClr val="005CC5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</a:t>
            </a:r>
          </a:p>
        </p:txBody>
      </p:sp>
      <p:cxnSp>
        <p:nvCxnSpPr>
          <p:cNvPr id="6" name="Straight Arrow Connector 4">
            <a:extLst>
              <a:ext uri="{FF2B5EF4-FFF2-40B4-BE49-F238E27FC236}">
                <a16:creationId xmlns:a16="http://schemas.microsoft.com/office/drawing/2014/main" id="{039CC610-EE85-FF0A-47DE-96A8DC835189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3915261" y="3901846"/>
            <a:ext cx="763065" cy="1345306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0BC5624-61A5-1A13-67BF-C4DAA8D66E19}"/>
              </a:ext>
            </a:extLst>
          </p:cNvPr>
          <p:cNvSpPr txBox="1">
            <a:spLocks/>
          </p:cNvSpPr>
          <p:nvPr/>
        </p:nvSpPr>
        <p:spPr>
          <a:xfrm>
            <a:off x="5717838" y="5247152"/>
            <a:ext cx="4981864" cy="98011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rgbClr val="005CC5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-&gt;</a:t>
            </a:r>
            <a:r>
              <a:rPr lang="en-US" sz="20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</a:p>
          <a:p>
            <a:r>
              <a:rPr lang="en-US" sz="20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Mwahahaha pointer dereference</a:t>
            </a:r>
          </a:p>
        </p:txBody>
      </p:sp>
      <p:cxnSp>
        <p:nvCxnSpPr>
          <p:cNvPr id="13" name="Straight Arrow Connector 4">
            <a:extLst>
              <a:ext uri="{FF2B5EF4-FFF2-40B4-BE49-F238E27FC236}">
                <a16:creationId xmlns:a16="http://schemas.microsoft.com/office/drawing/2014/main" id="{FA46DC42-C8DB-A3F3-8C94-29F558EC141E}"/>
              </a:ext>
            </a:extLst>
          </p:cNvPr>
          <p:cNvCxnSpPr>
            <a:cxnSpLocks/>
            <a:stCxn id="12" idx="0"/>
          </p:cNvCxnSpPr>
          <p:nvPr/>
        </p:nvCxnSpPr>
        <p:spPr>
          <a:xfrm flipH="1" flipV="1">
            <a:off x="5371292" y="3901846"/>
            <a:ext cx="2837478" cy="1345306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5718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43685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32058-7303-B38E-4D69-EE6C35A94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51B5F-4806-3D9C-8359-3A8FAE0FA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Time: </a:t>
            </a:r>
            <a:r>
              <a:rPr lang="en-US" dirty="0" err="1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IntVector</a:t>
            </a:r>
            <a:endParaRPr lang="en-US" dirty="0">
              <a:solidFill>
                <a:srgbClr val="D73A48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F4AAA-CFAB-EC0F-DB49-13F9788367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498886"/>
            <a:ext cx="11404600" cy="5093299"/>
          </a:xfrm>
        </p:spPr>
        <p:txBody>
          <a:bodyPr>
            <a:normAutofit fontScale="92500" lnSpcReduction="20000"/>
          </a:bodyPr>
          <a:lstStyle/>
          <a:p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Implements a sequence of strings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~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bool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empty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void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push_back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 </a:t>
            </a:r>
            <a:r>
              <a:rPr lang="en-US" b="0" dirty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operator[]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512084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D7C64-7FBB-341D-8E0A-AEE4F9A61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 so fast…</a:t>
            </a:r>
          </a:p>
        </p:txBody>
      </p:sp>
    </p:spTree>
    <p:extLst>
      <p:ext uri="{BB962C8B-B14F-4D97-AF65-F5344CB8AC3E}">
        <p14:creationId xmlns:p14="http://schemas.microsoft.com/office/powerpoint/2010/main" val="21936841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D4772FA-1F44-BA82-B378-565C6A755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 realize you need to handle...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D838BC-14F8-B332-3B22-9F60387F8E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056" y="1668548"/>
            <a:ext cx="3459126" cy="4051768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6AB4B56-D7F2-209A-F643-E0B58DA8EF27}"/>
              </a:ext>
            </a:extLst>
          </p:cNvPr>
          <p:cNvSpPr txBox="1">
            <a:spLocks/>
          </p:cNvSpPr>
          <p:nvPr/>
        </p:nvSpPr>
        <p:spPr>
          <a:xfrm>
            <a:off x="5889373" y="2662566"/>
            <a:ext cx="4289533" cy="98011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 of </a:t>
            </a:r>
            <a:r>
              <a:rPr lang="en-US" sz="2000" b="1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std::string</a:t>
            </a:r>
            <a:r>
              <a:rPr lang="en-US" sz="2000" b="1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?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47E6453-BE94-ED59-81E5-73524E75FB5C}"/>
              </a:ext>
            </a:extLst>
          </p:cNvPr>
          <p:cNvSpPr txBox="1">
            <a:spLocks/>
          </p:cNvSpPr>
          <p:nvPr/>
        </p:nvSpPr>
        <p:spPr>
          <a:xfrm>
            <a:off x="7140707" y="1397725"/>
            <a:ext cx="3459126" cy="98011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 of </a:t>
            </a:r>
            <a:r>
              <a:rPr lang="en-US" sz="2000" b="1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doubles</a:t>
            </a:r>
            <a:r>
              <a:rPr lang="en-US" sz="2000" b="1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?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6EAC92D-7B45-79F2-6D77-958AF54CE4AC}"/>
              </a:ext>
            </a:extLst>
          </p:cNvPr>
          <p:cNvSpPr txBox="1">
            <a:spLocks/>
          </p:cNvSpPr>
          <p:nvPr/>
        </p:nvSpPr>
        <p:spPr>
          <a:xfrm>
            <a:off x="6703470" y="3947906"/>
            <a:ext cx="5103630" cy="98011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 of </a:t>
            </a:r>
            <a:r>
              <a:rPr lang="en-US" sz="2000" b="1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 of strings</a:t>
            </a:r>
            <a:r>
              <a:rPr lang="en-US" sz="2000" b="1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?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6481250-CD95-944A-277A-AED658C89AB7}"/>
              </a:ext>
            </a:extLst>
          </p:cNvPr>
          <p:cNvSpPr txBox="1">
            <a:spLocks/>
          </p:cNvSpPr>
          <p:nvPr/>
        </p:nvSpPr>
        <p:spPr>
          <a:xfrm>
            <a:off x="5889373" y="5279505"/>
            <a:ext cx="5103630" cy="98011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 of </a:t>
            </a:r>
            <a:r>
              <a:rPr lang="en-US" sz="2000" b="1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custom type I haven’t even thought of yet</a:t>
            </a:r>
            <a:r>
              <a:rPr lang="en-US" sz="2000" b="1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5C50DC-10FE-9760-749C-91EE6AE31C96}"/>
              </a:ext>
            </a:extLst>
          </p:cNvPr>
          <p:cNvSpPr txBox="1"/>
          <p:nvPr/>
        </p:nvSpPr>
        <p:spPr>
          <a:xfrm>
            <a:off x="1368056" y="5904098"/>
            <a:ext cx="34591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Alexander Stepanov</a:t>
            </a:r>
          </a:p>
          <a:p>
            <a:pPr algn="ctr"/>
            <a:r>
              <a:rPr lang="en-US" dirty="0"/>
              <a:t>Creator of STL</a:t>
            </a:r>
          </a:p>
        </p:txBody>
      </p:sp>
    </p:spTree>
    <p:extLst>
      <p:ext uri="{BB962C8B-B14F-4D97-AF65-F5344CB8AC3E}">
        <p14:creationId xmlns:p14="http://schemas.microsoft.com/office/powerpoint/2010/main" val="78745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CA8D8-C8BD-B46C-7D5F-586F561E2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1B501-C2CD-1505-1358-B5E841037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IntVector</a:t>
            </a:r>
            <a:r>
              <a:rPr lang="en-US" dirty="0"/>
              <a:t> is too specific</a:t>
            </a:r>
            <a:endParaRPr lang="en-US" dirty="0">
              <a:solidFill>
                <a:srgbClr val="D73A48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563F9-EEC4-3ACF-CB87-F5CE6F6C18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498886"/>
            <a:ext cx="11404600" cy="5093299"/>
          </a:xfrm>
        </p:spPr>
        <p:txBody>
          <a:bodyPr>
            <a:normAutofit fontScale="92500" lnSpcReduction="20000"/>
          </a:bodyPr>
          <a:lstStyle/>
          <a:p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Implements a sequence of strings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~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bool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empty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void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push_back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 </a:t>
            </a:r>
            <a:r>
              <a:rPr lang="en-US" b="0" dirty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operator[]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6870323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ight Arrow 5">
            <a:extLst>
              <a:ext uri="{FF2B5EF4-FFF2-40B4-BE49-F238E27FC236}">
                <a16:creationId xmlns:a16="http://schemas.microsoft.com/office/drawing/2014/main" id="{57A51E86-10B6-AAE2-C8A2-339F617E9C37}"/>
              </a:ext>
            </a:extLst>
          </p:cNvPr>
          <p:cNvSpPr/>
          <p:nvPr/>
        </p:nvSpPr>
        <p:spPr>
          <a:xfrm>
            <a:off x="4494192" y="3561893"/>
            <a:ext cx="2573867" cy="950842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AF62731-ACED-4ABE-1DA1-31B40756E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IntVector</a:t>
            </a:r>
            <a:r>
              <a:rPr lang="en-US" dirty="0"/>
              <a:t> is too specific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3A7DFD2-8735-8707-1F82-4D5112CA9325}"/>
              </a:ext>
            </a:extLst>
          </p:cNvPr>
          <p:cNvSpPr txBox="1">
            <a:spLocks/>
          </p:cNvSpPr>
          <p:nvPr/>
        </p:nvSpPr>
        <p:spPr>
          <a:xfrm>
            <a:off x="393700" y="1685199"/>
            <a:ext cx="4736592" cy="301346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IntVector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Code to store </a:t>
            </a:r>
          </a:p>
          <a:p>
            <a:r>
              <a:rPr lang="en-US" dirty="0">
                <a:solidFill>
                  <a:srgbClr val="6A737D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</a:t>
            </a:r>
            <a:r>
              <a:rPr lang="en-US" b="0" dirty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 list of 	</a:t>
            </a:r>
          </a:p>
          <a:p>
            <a:r>
              <a:rPr lang="en-US" dirty="0">
                <a:solidFill>
                  <a:srgbClr val="6A737D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integers…</a:t>
            </a:r>
            <a:endParaRPr lang="en-US" b="0" dirty="0">
              <a:solidFill>
                <a:srgbClr val="24292E"/>
              </a:solidFill>
              <a:effectLst/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D247135-8C13-D993-0ACA-0EF863B1A047}"/>
              </a:ext>
            </a:extLst>
          </p:cNvPr>
          <p:cNvSpPr txBox="1">
            <a:spLocks/>
          </p:cNvSpPr>
          <p:nvPr/>
        </p:nvSpPr>
        <p:spPr>
          <a:xfrm>
            <a:off x="861993" y="2345600"/>
            <a:ext cx="4736592" cy="301346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 err="1">
                <a:solidFill>
                  <a:srgbClr val="6F42C1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r>
              <a:rPr lang="en-US" b="0" dirty="0" err="1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Code to store </a:t>
            </a:r>
          </a:p>
          <a:p>
            <a:r>
              <a:rPr lang="en-US" dirty="0">
                <a:solidFill>
                  <a:srgbClr val="6A737D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</a:t>
            </a:r>
            <a:r>
              <a:rPr lang="en-US" b="0" dirty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 list of 	</a:t>
            </a:r>
          </a:p>
          <a:p>
            <a:r>
              <a:rPr lang="en-US" dirty="0">
                <a:solidFill>
                  <a:srgbClr val="6A737D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doubles…</a:t>
            </a:r>
            <a:endParaRPr lang="en-US" b="0" dirty="0">
              <a:solidFill>
                <a:srgbClr val="24292E"/>
              </a:solidFill>
              <a:effectLst/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10128A4-AA11-7A5E-B801-160CA9B3CEEC}"/>
              </a:ext>
            </a:extLst>
          </p:cNvPr>
          <p:cNvSpPr txBox="1">
            <a:spLocks/>
          </p:cNvSpPr>
          <p:nvPr/>
        </p:nvSpPr>
        <p:spPr>
          <a:xfrm>
            <a:off x="1359408" y="3006001"/>
            <a:ext cx="4736592" cy="301346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 err="1">
                <a:solidFill>
                  <a:srgbClr val="6F42C1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String</a:t>
            </a:r>
            <a:r>
              <a:rPr lang="en-US" b="0" dirty="0" err="1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Code to store </a:t>
            </a:r>
          </a:p>
          <a:p>
            <a:r>
              <a:rPr lang="en-US" dirty="0">
                <a:solidFill>
                  <a:srgbClr val="6A737D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</a:t>
            </a:r>
            <a:r>
              <a:rPr lang="en-US" b="0" dirty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 list of 	</a:t>
            </a:r>
          </a:p>
          <a:p>
            <a:r>
              <a:rPr lang="en-US" dirty="0">
                <a:solidFill>
                  <a:srgbClr val="6A737D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strings…</a:t>
            </a:r>
            <a:endParaRPr lang="en-US" b="0" dirty="0">
              <a:solidFill>
                <a:srgbClr val="24292E"/>
              </a:solidFill>
              <a:effectLst/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784D8F7-A015-1E02-84CB-11C1038B2043}"/>
              </a:ext>
            </a:extLst>
          </p:cNvPr>
          <p:cNvSpPr txBox="1">
            <a:spLocks/>
          </p:cNvSpPr>
          <p:nvPr/>
        </p:nvSpPr>
        <p:spPr>
          <a:xfrm>
            <a:off x="7061709" y="1626267"/>
            <a:ext cx="4736591" cy="439320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 dirty="0" err="1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So satisfying.</a:t>
            </a:r>
            <a:endParaRPr lang="en-US" b="0" dirty="0">
              <a:solidFill>
                <a:srgbClr val="24292E"/>
              </a:solidFill>
              <a:effectLst/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  <a:p>
            <a:endParaRPr lang="en-US" dirty="0">
              <a:solidFill>
                <a:srgbClr val="24292E"/>
              </a:solidFill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&lt;int&gt;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v1;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&lt;double&gt;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v2;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string</a:t>
            </a:r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v3;</a:t>
            </a:r>
          </a:p>
        </p:txBody>
      </p:sp>
    </p:spTree>
    <p:extLst>
      <p:ext uri="{BB962C8B-B14F-4D97-AF65-F5344CB8AC3E}">
        <p14:creationId xmlns:p14="http://schemas.microsoft.com/office/powerpoint/2010/main" val="1337815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" grpId="0" animBg="1"/>
      <p:bldP spid="5" grpId="0" animBg="1"/>
      <p:bldP spid="7" grpId="0" uiExpand="1" build="p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E7150-08D2-57CD-D1E2-F42370F40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std::vector&lt;T&gt;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C9749-62BD-D8A6-241A-4B65BC4E2B17}"/>
              </a:ext>
            </a:extLst>
          </p:cNvPr>
          <p:cNvSpPr txBox="1">
            <a:spLocks/>
          </p:cNvSpPr>
          <p:nvPr/>
        </p:nvSpPr>
        <p:spPr>
          <a:xfrm>
            <a:off x="5682744" y="4784651"/>
            <a:ext cx="4715454" cy="149895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How does this &lt;T&gt; stuff work?</a:t>
            </a:r>
          </a:p>
        </p:txBody>
      </p:sp>
      <p:cxnSp>
        <p:nvCxnSpPr>
          <p:cNvPr id="4" name="Straight Arrow Connector 4">
            <a:extLst>
              <a:ext uri="{FF2B5EF4-FFF2-40B4-BE49-F238E27FC236}">
                <a16:creationId xmlns:a16="http://schemas.microsoft.com/office/drawing/2014/main" id="{2FB5037C-8994-B8F0-8460-760950E09C8B}"/>
              </a:ext>
            </a:extLst>
          </p:cNvPr>
          <p:cNvCxnSpPr>
            <a:cxnSpLocks/>
            <a:stCxn id="3" idx="0"/>
          </p:cNvCxnSpPr>
          <p:nvPr/>
        </p:nvCxnSpPr>
        <p:spPr>
          <a:xfrm rot="16200000" flipV="1">
            <a:off x="7351246" y="4095426"/>
            <a:ext cx="972157" cy="406294"/>
          </a:xfrm>
          <a:prstGeom prst="curvedConnector3">
            <a:avLst>
              <a:gd name="adj1" fmla="val 50000"/>
            </a:avLst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4593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D1914-E290-7712-6F9B-0F26586C07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87381"/>
            <a:ext cx="9144000" cy="2387600"/>
          </a:xfrm>
        </p:spPr>
        <p:txBody>
          <a:bodyPr>
            <a:normAutofit/>
          </a:bodyPr>
          <a:lstStyle/>
          <a:p>
            <a:r>
              <a:rPr lang="en-US" dirty="0"/>
              <a:t>Lecture 8: </a:t>
            </a:r>
            <a:br>
              <a:rPr lang="en-US" dirty="0"/>
            </a:br>
            <a:r>
              <a:rPr lang="en-US" dirty="0"/>
              <a:t>Template Classes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0A3AC9-76F3-D6D7-4F53-FFB9494EBC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67056"/>
            <a:ext cx="9144000" cy="1655762"/>
          </a:xfrm>
        </p:spPr>
        <p:txBody>
          <a:bodyPr/>
          <a:lstStyle/>
          <a:p>
            <a:r>
              <a:rPr lang="en-US" dirty="0"/>
              <a:t>CS106L, Winter 2025</a:t>
            </a:r>
          </a:p>
        </p:txBody>
      </p:sp>
    </p:spTree>
    <p:extLst>
      <p:ext uri="{BB962C8B-B14F-4D97-AF65-F5344CB8AC3E}">
        <p14:creationId xmlns:p14="http://schemas.microsoft.com/office/powerpoint/2010/main" val="27584482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83829C0-BCBF-D7D9-B500-8EA1069BB8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Template Classes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How can we generalize across different types?</a:t>
            </a:r>
          </a:p>
          <a:p>
            <a:r>
              <a:rPr lang="en-US" dirty="0"/>
              <a:t>Code Demo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Implementing a template class</a:t>
            </a:r>
          </a:p>
          <a:p>
            <a:r>
              <a:rPr lang="en-US" dirty="0"/>
              <a:t>Const Correctness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Unlocking the power of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		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3FF663-3B56-F220-E2BE-091B66390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Agenda</a:t>
            </a:r>
          </a:p>
        </p:txBody>
      </p:sp>
    </p:spTree>
    <p:extLst>
      <p:ext uri="{BB962C8B-B14F-4D97-AF65-F5344CB8AC3E}">
        <p14:creationId xmlns:p14="http://schemas.microsoft.com/office/powerpoint/2010/main" val="2865101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45024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32288-715E-CA1D-80B3-3E1357D86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 Classes</a:t>
            </a:r>
          </a:p>
        </p:txBody>
      </p:sp>
    </p:spTree>
    <p:extLst>
      <p:ext uri="{BB962C8B-B14F-4D97-AF65-F5344CB8AC3E}">
        <p14:creationId xmlns:p14="http://schemas.microsoft.com/office/powerpoint/2010/main" val="6249002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87A23C0-6F9E-2886-A53A-F0279310F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Templates: A bit of history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970FD40-AB96-DEFD-04A2-A953E387A8EF}"/>
              </a:ext>
            </a:extLst>
          </p:cNvPr>
          <p:cNvSpPr txBox="1">
            <a:spLocks/>
          </p:cNvSpPr>
          <p:nvPr/>
        </p:nvSpPr>
        <p:spPr>
          <a:xfrm>
            <a:off x="3264491" y="1685199"/>
            <a:ext cx="4736592" cy="301346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IntVector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Code to store </a:t>
            </a:r>
          </a:p>
          <a:p>
            <a:r>
              <a:rPr lang="en-US" dirty="0">
                <a:solidFill>
                  <a:srgbClr val="6A737D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</a:t>
            </a:r>
            <a:r>
              <a:rPr lang="en-US" b="0" dirty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 list of 	</a:t>
            </a:r>
          </a:p>
          <a:p>
            <a:r>
              <a:rPr lang="en-US" dirty="0">
                <a:solidFill>
                  <a:srgbClr val="6A737D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integers…</a:t>
            </a:r>
            <a:endParaRPr lang="en-US" b="0" dirty="0">
              <a:solidFill>
                <a:srgbClr val="24292E"/>
              </a:solidFill>
              <a:effectLst/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41E8B8C-7676-9D11-9F45-7B1DD0AB036A}"/>
              </a:ext>
            </a:extLst>
          </p:cNvPr>
          <p:cNvSpPr txBox="1">
            <a:spLocks/>
          </p:cNvSpPr>
          <p:nvPr/>
        </p:nvSpPr>
        <p:spPr>
          <a:xfrm>
            <a:off x="3732784" y="2345600"/>
            <a:ext cx="4736592" cy="301346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 err="1">
                <a:solidFill>
                  <a:srgbClr val="6F42C1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r>
              <a:rPr lang="en-US" b="0" dirty="0" err="1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Code to store </a:t>
            </a:r>
          </a:p>
          <a:p>
            <a:r>
              <a:rPr lang="en-US" dirty="0">
                <a:solidFill>
                  <a:srgbClr val="6A737D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</a:t>
            </a:r>
            <a:r>
              <a:rPr lang="en-US" b="0" dirty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 list of 	</a:t>
            </a:r>
          </a:p>
          <a:p>
            <a:r>
              <a:rPr lang="en-US" dirty="0">
                <a:solidFill>
                  <a:srgbClr val="6A737D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doubles…</a:t>
            </a:r>
            <a:endParaRPr lang="en-US" b="0" dirty="0">
              <a:solidFill>
                <a:srgbClr val="24292E"/>
              </a:solidFill>
              <a:effectLst/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506E735-CE4E-48BE-FC3E-7B138A9FC21A}"/>
              </a:ext>
            </a:extLst>
          </p:cNvPr>
          <p:cNvSpPr txBox="1">
            <a:spLocks/>
          </p:cNvSpPr>
          <p:nvPr/>
        </p:nvSpPr>
        <p:spPr>
          <a:xfrm>
            <a:off x="4230199" y="3006001"/>
            <a:ext cx="4736592" cy="301346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 err="1">
                <a:solidFill>
                  <a:srgbClr val="6F42C1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String</a:t>
            </a:r>
            <a:r>
              <a:rPr lang="en-US" b="0" dirty="0" err="1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Code to store </a:t>
            </a:r>
          </a:p>
          <a:p>
            <a:r>
              <a:rPr lang="en-US" dirty="0">
                <a:solidFill>
                  <a:srgbClr val="6A737D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</a:t>
            </a:r>
            <a:r>
              <a:rPr lang="en-US" b="0" dirty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 list of 	</a:t>
            </a:r>
          </a:p>
          <a:p>
            <a:r>
              <a:rPr lang="en-US" dirty="0">
                <a:solidFill>
                  <a:srgbClr val="6A737D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strings…</a:t>
            </a:r>
            <a:endParaRPr lang="en-US" b="0" dirty="0">
              <a:solidFill>
                <a:srgbClr val="24292E"/>
              </a:solidFill>
              <a:effectLst/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5650676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136F7-6151-E3B9-FC13-5768E89A9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Templates: A bit of 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9DF59-3A5C-2E14-2AD0-9515B758BD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int&amp;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void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push_back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private: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int*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logical_size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array_size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362655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A8FD2-76AB-6A2B-032B-21E95452D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F04CD-B63B-0CC0-C640-246BB6BA1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Templates: A bit of 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A716E-1920-5D7F-0F69-8C31E431CC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 </a:t>
            </a:r>
            <a:r>
              <a:rPr lang="en-US" b="1" dirty="0" err="1">
                <a:solidFill>
                  <a:srgbClr val="D73A48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 err="1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</a:p>
          <a:p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1" dirty="0">
                <a:solidFill>
                  <a:srgbClr val="D73A48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 at(</a:t>
            </a:r>
            <a:r>
              <a:rPr lang="en-US" b="0" dirty="0" err="1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index);</a:t>
            </a:r>
          </a:p>
          <a:p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void </a:t>
            </a:r>
            <a:r>
              <a:rPr lang="en-US" b="0" dirty="0" err="1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push_back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(const </a:t>
            </a:r>
            <a:r>
              <a:rPr lang="en-US" b="1" dirty="0">
                <a:solidFill>
                  <a:srgbClr val="D73A48"/>
                </a:solidFill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 </a:t>
            </a:r>
            <a:r>
              <a:rPr lang="en-US" b="0" dirty="0" err="1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private:</a:t>
            </a:r>
          </a:p>
          <a:p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1" dirty="0">
                <a:solidFill>
                  <a:srgbClr val="D73A48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 </a:t>
            </a:r>
            <a:r>
              <a:rPr lang="en-US" b="0" dirty="0" err="1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elems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 err="1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logical_size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 err="1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array_size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2513340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FBFF0-5D88-A476-244E-FB9FB4998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5B68F-3C8A-0BBA-E0C5-CC29934DC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Templates: A bit of 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B6738-70FA-8E0C-2C89-EA9C6542D2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#define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GENERATE_VECTOR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MY_TYPE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				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\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class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MY_TYPE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##Vector { 							\ 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public: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														\ 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MY_TYPE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 					\ 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void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push_back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MY_TYPE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 \ 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private: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														\ 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MY_TYPE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										\ 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logical_size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							\ 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array_size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								\ 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};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937C8D-D9E7-0638-8A5B-0338955F1A1A}"/>
              </a:ext>
            </a:extLst>
          </p:cNvPr>
          <p:cNvSpPr txBox="1">
            <a:spLocks/>
          </p:cNvSpPr>
          <p:nvPr/>
        </p:nvSpPr>
        <p:spPr>
          <a:xfrm>
            <a:off x="7155416" y="4374118"/>
            <a:ext cx="4855535" cy="149895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Preprocessor Macro</a:t>
            </a:r>
          </a:p>
          <a:p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Runs before compiler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009DEF9-5D9E-94C6-3B56-48E55752C97E}"/>
              </a:ext>
            </a:extLst>
          </p:cNvPr>
          <p:cNvCxnSpPr>
            <a:cxnSpLocks/>
            <a:stCxn id="4" idx="0"/>
          </p:cNvCxnSpPr>
          <p:nvPr/>
        </p:nvCxnSpPr>
        <p:spPr>
          <a:xfrm rot="16200000" flipV="1">
            <a:off x="6995780" y="1786713"/>
            <a:ext cx="2502788" cy="2672021"/>
          </a:xfrm>
          <a:prstGeom prst="curvedConnector2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8418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F9CEC-DF8D-36A5-CEC9-7482549CC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04B8C-F552-CE71-7496-2A7A0D506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Templates: A bit of 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5129E-B3EB-5A39-9793-9D80B9E524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#define GENERATE_VECTOR(</a:t>
            </a:r>
            <a:r>
              <a:rPr lang="en-US" b="1" dirty="0">
                <a:solidFill>
                  <a:srgbClr val="D73A48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MY_TYPE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				\</a:t>
            </a:r>
          </a:p>
          <a:p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class </a:t>
            </a:r>
            <a:r>
              <a:rPr lang="en-US" b="1" dirty="0">
                <a:solidFill>
                  <a:srgbClr val="D73A48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MY_TYPE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##Vector { 							\ </a:t>
            </a:r>
          </a:p>
          <a:p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public: 														\ </a:t>
            </a:r>
          </a:p>
          <a:p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</a:t>
            </a:r>
            <a:r>
              <a:rPr lang="en-US" b="1" dirty="0">
                <a:solidFill>
                  <a:srgbClr val="D73A48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MY_TYPE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 at(</a:t>
            </a:r>
            <a:r>
              <a:rPr lang="en-US" b="0" dirty="0" err="1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index); 					\ </a:t>
            </a:r>
          </a:p>
          <a:p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void </a:t>
            </a:r>
            <a:r>
              <a:rPr lang="en-US" b="0" dirty="0" err="1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push_back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(const </a:t>
            </a:r>
            <a:r>
              <a:rPr lang="en-US" b="1" dirty="0">
                <a:solidFill>
                  <a:srgbClr val="D73A48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MY_TYPE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 </a:t>
            </a:r>
            <a:r>
              <a:rPr lang="en-US" b="0" dirty="0" err="1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 \ </a:t>
            </a:r>
          </a:p>
          <a:p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private: 														\ </a:t>
            </a:r>
          </a:p>
          <a:p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</a:t>
            </a:r>
            <a:r>
              <a:rPr lang="en-US" b="1" dirty="0">
                <a:solidFill>
                  <a:srgbClr val="D73A48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MY_TYPE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 </a:t>
            </a:r>
            <a:r>
              <a:rPr lang="en-US" b="0" dirty="0" err="1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elems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										\ </a:t>
            </a:r>
          </a:p>
          <a:p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</a:t>
            </a:r>
            <a:r>
              <a:rPr lang="en-US" b="0" dirty="0" err="1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logical_size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							\ </a:t>
            </a:r>
          </a:p>
          <a:p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</a:t>
            </a:r>
            <a:r>
              <a:rPr lang="en-US" b="0" dirty="0" err="1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array_size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								\ </a:t>
            </a:r>
          </a:p>
          <a:p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};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C8E788C-CB65-9901-FB58-A20A7C654310}"/>
              </a:ext>
            </a:extLst>
          </p:cNvPr>
          <p:cNvSpPr txBox="1">
            <a:spLocks/>
          </p:cNvSpPr>
          <p:nvPr/>
        </p:nvSpPr>
        <p:spPr>
          <a:xfrm>
            <a:off x="7155416" y="4374118"/>
            <a:ext cx="4855535" cy="149895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Preprocessor Macro</a:t>
            </a:r>
          </a:p>
          <a:p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Runs before compiler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F53D144-5696-87F4-E9C0-E170CAE9F48D}"/>
              </a:ext>
            </a:extLst>
          </p:cNvPr>
          <p:cNvCxnSpPr>
            <a:cxnSpLocks/>
            <a:stCxn id="4" idx="0"/>
          </p:cNvCxnSpPr>
          <p:nvPr/>
        </p:nvCxnSpPr>
        <p:spPr>
          <a:xfrm rot="16200000" flipV="1">
            <a:off x="6995780" y="1786713"/>
            <a:ext cx="2502788" cy="2672021"/>
          </a:xfrm>
          <a:prstGeom prst="curvedConnector2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37487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C38BC-AEF0-3867-F0CF-4BC1306EE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Templates: A bit of 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D21B86-DEEA-6257-0E3B-DB785157E7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#include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</a:t>
            </a:r>
            <a:r>
              <a:rPr lang="en-US" b="0" dirty="0" err="1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grandmas_template.h</a:t>
            </a:r>
            <a:r>
              <a:rPr lang="en-US" b="0" dirty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GENERATE_VECTOR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v1;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v1.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push_back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5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3E19422-35AC-48D4-80A4-850E8B98E4AD}"/>
              </a:ext>
            </a:extLst>
          </p:cNvPr>
          <p:cNvSpPr txBox="1">
            <a:spLocks/>
          </p:cNvSpPr>
          <p:nvPr/>
        </p:nvSpPr>
        <p:spPr>
          <a:xfrm>
            <a:off x="6507126" y="4374118"/>
            <a:ext cx="5503825" cy="209199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Code generation!!!</a:t>
            </a:r>
          </a:p>
          <a:p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Depending on what type we pass in, we get a different vector!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3C91C79-513B-4FFC-C3BA-A22324F4344B}"/>
              </a:ext>
            </a:extLst>
          </p:cNvPr>
          <p:cNvCxnSpPr>
            <a:cxnSpLocks/>
            <a:stCxn id="4" idx="0"/>
          </p:cNvCxnSpPr>
          <p:nvPr/>
        </p:nvCxnSpPr>
        <p:spPr>
          <a:xfrm rot="16200000" flipV="1">
            <a:off x="6674223" y="1789301"/>
            <a:ext cx="1609652" cy="3559981"/>
          </a:xfrm>
          <a:prstGeom prst="curvedConnector2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3339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BEB2A-6A0B-972E-A580-F325AFB2C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83631-1619-5AAF-3BCC-8BB8A09AD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Templates: A bit of 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267EE-F854-F146-867B-FBA8C3E5C4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#include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</a:t>
            </a:r>
            <a:r>
              <a:rPr lang="en-US" b="0" dirty="0" err="1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grandmas_template.h</a:t>
            </a:r>
            <a:r>
              <a:rPr lang="en-US" b="0" dirty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</a:t>
            </a:r>
            <a:endParaRPr lang="en-US" b="0" dirty="0">
              <a:solidFill>
                <a:srgbClr val="D73A49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endParaRPr lang="en-US" b="0" dirty="0">
              <a:solidFill>
                <a:srgbClr val="D73A49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 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int&amp;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 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void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push_back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 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private: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int*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logical_size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array_size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 </a:t>
            </a: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v1;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v1.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push_back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5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6181F94-7115-C372-3268-39377E86E8C8}"/>
              </a:ext>
            </a:extLst>
          </p:cNvPr>
          <p:cNvSpPr txBox="1">
            <a:spLocks/>
          </p:cNvSpPr>
          <p:nvPr/>
        </p:nvSpPr>
        <p:spPr>
          <a:xfrm>
            <a:off x="6507126" y="4374118"/>
            <a:ext cx="5503825" cy="209199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Code generation!!!</a:t>
            </a:r>
          </a:p>
          <a:p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Depending on what type we pass in, we get a different vector!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B616AFF-C062-4555-8519-6D4CCADDFE96}"/>
              </a:ext>
            </a:extLst>
          </p:cNvPr>
          <p:cNvCxnSpPr>
            <a:cxnSpLocks/>
            <a:stCxn id="4" idx="0"/>
          </p:cNvCxnSpPr>
          <p:nvPr/>
        </p:nvCxnSpPr>
        <p:spPr>
          <a:xfrm rot="16200000" flipV="1">
            <a:off x="6674223" y="1789301"/>
            <a:ext cx="1609652" cy="3559981"/>
          </a:xfrm>
          <a:prstGeom prst="curvedConnector2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19426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63E96-8B21-AC56-C131-B73F2803B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9B52A-92D0-F9EF-928B-5100602C9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Templates: A bit of 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30067-6C8A-5D67-B9BF-406EC62840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#include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</a:t>
            </a:r>
            <a:r>
              <a:rPr lang="en-US" b="0" dirty="0" err="1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grandmas_template.h</a:t>
            </a:r>
            <a:r>
              <a:rPr lang="en-US" b="0" dirty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</a:t>
            </a:r>
            <a:endParaRPr lang="en-US" b="0" dirty="0">
              <a:solidFill>
                <a:schemeClr val="bg1">
                  <a:lumMod val="65000"/>
                </a:schemeClr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endParaRPr lang="en-US" b="0" dirty="0">
              <a:solidFill>
                <a:schemeClr val="bg1">
                  <a:lumMod val="65000"/>
                </a:schemeClr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 </a:t>
            </a:r>
            <a:r>
              <a:rPr lang="en-US" b="1" dirty="0" err="1">
                <a:solidFill>
                  <a:srgbClr val="D73A48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 err="1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 </a:t>
            </a:r>
          </a:p>
          <a:p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 </a:t>
            </a:r>
          </a:p>
          <a:p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1" dirty="0">
                <a:solidFill>
                  <a:srgbClr val="D73A48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 at(</a:t>
            </a:r>
            <a:r>
              <a:rPr lang="en-US" b="0" dirty="0" err="1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index); </a:t>
            </a:r>
          </a:p>
          <a:p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void </a:t>
            </a:r>
            <a:r>
              <a:rPr lang="en-US" b="0" dirty="0" err="1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push_back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(const </a:t>
            </a:r>
            <a:r>
              <a:rPr lang="en-US" b="1" dirty="0">
                <a:solidFill>
                  <a:srgbClr val="D73A48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 </a:t>
            </a:r>
            <a:r>
              <a:rPr lang="en-US" b="0" dirty="0" err="1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 </a:t>
            </a:r>
          </a:p>
          <a:p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private: </a:t>
            </a:r>
          </a:p>
          <a:p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1" dirty="0">
                <a:solidFill>
                  <a:srgbClr val="D73A48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 </a:t>
            </a:r>
            <a:r>
              <a:rPr lang="en-US" b="0" dirty="0" err="1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elems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</a:p>
          <a:p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 err="1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logical_size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</a:p>
          <a:p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 err="1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array_size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</a:p>
          <a:p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 </a:t>
            </a: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v1;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v1.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push_back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5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8517114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FB2468E-9B8E-43B6-2857-A8CEAAC93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Clunky syntax</a:t>
            </a:r>
          </a:p>
          <a:p>
            <a:r>
              <a:rPr lang="en-US" dirty="0"/>
              <a:t>Hard to type check</a:t>
            </a:r>
          </a:p>
          <a:p>
            <a:r>
              <a:rPr lang="en-US" dirty="0"/>
              <a:t>What if you forget to call macro?</a:t>
            </a:r>
          </a:p>
          <a:p>
            <a:pPr lvl="1"/>
            <a:r>
              <a:rPr lang="en-US" dirty="0"/>
              <a:t>Or call it more than once?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00C4702-BE80-B454-8E0D-19837A559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Problems with macros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C6683B-4542-3262-4F50-371254294F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9842" y="1541416"/>
            <a:ext cx="3228458" cy="4825695"/>
          </a:xfrm>
          <a:prstGeom prst="rect">
            <a:avLst/>
          </a:prstGeom>
        </p:spPr>
      </p:pic>
      <p:sp>
        <p:nvSpPr>
          <p:cNvPr id="5" name="Cloud Callout 4">
            <a:extLst>
              <a:ext uri="{FF2B5EF4-FFF2-40B4-BE49-F238E27FC236}">
                <a16:creationId xmlns:a16="http://schemas.microsoft.com/office/drawing/2014/main" id="{4216BBBB-5780-A0DF-011D-99C0E70A365A}"/>
              </a:ext>
            </a:extLst>
          </p:cNvPr>
          <p:cNvSpPr/>
          <p:nvPr/>
        </p:nvSpPr>
        <p:spPr>
          <a:xfrm flipH="1">
            <a:off x="6577615" y="1397725"/>
            <a:ext cx="2963334" cy="1431566"/>
          </a:xfrm>
          <a:prstGeom prst="cloudCallou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Bjarne, we can do better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EC6962-17B3-4C6C-75F5-047C2364F5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0107" y="3925297"/>
            <a:ext cx="2637508" cy="2301967"/>
          </a:xfrm>
          <a:prstGeom prst="rect">
            <a:avLst/>
          </a:prstGeom>
        </p:spPr>
      </p:pic>
      <p:sp>
        <p:nvSpPr>
          <p:cNvPr id="7" name="Cloud Callout 6">
            <a:extLst>
              <a:ext uri="{FF2B5EF4-FFF2-40B4-BE49-F238E27FC236}">
                <a16:creationId xmlns:a16="http://schemas.microsoft.com/office/drawing/2014/main" id="{8582C2FC-DB6E-B798-CEA7-3A13B2B8CDFE}"/>
              </a:ext>
            </a:extLst>
          </p:cNvPr>
          <p:cNvSpPr/>
          <p:nvPr/>
        </p:nvSpPr>
        <p:spPr>
          <a:xfrm>
            <a:off x="6092062" y="3096168"/>
            <a:ext cx="2963334" cy="1431566"/>
          </a:xfrm>
          <a:prstGeom prst="cloudCallou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Yess</a:t>
            </a:r>
            <a:r>
              <a:rPr lang="en-US" b="1" dirty="0">
                <a:solidFill>
                  <a:schemeClr val="tx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Alex!!! YESSSSSS</a:t>
            </a:r>
          </a:p>
        </p:txBody>
      </p:sp>
    </p:spTree>
    <p:extLst>
      <p:ext uri="{BB962C8B-B14F-4D97-AF65-F5344CB8AC3E}">
        <p14:creationId xmlns:p14="http://schemas.microsoft.com/office/powerpoint/2010/main" val="4068267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1B689-0B81-2EE6-FAF5-8A04D0CD0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D73A48"/>
                </a:solidFill>
              </a:rPr>
              <a:t>Key Idea: </a:t>
            </a:r>
            <a:r>
              <a:rPr lang="en-US" sz="3200" dirty="0"/>
              <a:t>Templates automate code generation</a:t>
            </a:r>
          </a:p>
        </p:txBody>
      </p:sp>
    </p:spTree>
    <p:extLst>
      <p:ext uri="{BB962C8B-B14F-4D97-AF65-F5344CB8AC3E}">
        <p14:creationId xmlns:p14="http://schemas.microsoft.com/office/powerpoint/2010/main" val="6008504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9B72D-C42F-EA75-3E35-6D5A26EEE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Templates have come a long 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C9BFCA-9C50-5B93-5BCB-1B1DBD69EF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sz="2800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sz="28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T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8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void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push_back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private:</a:t>
            </a:r>
            <a:endParaRPr lang="en-US" sz="28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T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elems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  <a:p>
            <a:endParaRPr lang="en-US" sz="28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CEAF587-3AA0-E814-A6DD-0E2AF3FFD7EB}"/>
              </a:ext>
            </a:extLst>
          </p:cNvPr>
          <p:cNvSpPr txBox="1">
            <a:spLocks/>
          </p:cNvSpPr>
          <p:nvPr/>
        </p:nvSpPr>
        <p:spPr>
          <a:xfrm>
            <a:off x="6096000" y="1337003"/>
            <a:ext cx="5503825" cy="209199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 Declaration</a:t>
            </a:r>
          </a:p>
          <a:p>
            <a:r>
              <a:rPr lang="en-US" sz="2800" dirty="0">
                <a:solidFill>
                  <a:srgbClr val="7030A0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is a template that takes in </a:t>
            </a:r>
            <a:r>
              <a:rPr lang="en-US" sz="2800" i="1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the name of a type</a:t>
            </a:r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dirty="0">
                <a:solidFill>
                  <a:srgbClr val="7030A0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E6FCD1F-E62C-D83E-6111-6815D9D96BA1}"/>
              </a:ext>
            </a:extLst>
          </p:cNvPr>
          <p:cNvCxnSpPr>
            <a:cxnSpLocks/>
            <a:stCxn id="4" idx="1"/>
          </p:cNvCxnSpPr>
          <p:nvPr/>
        </p:nvCxnSpPr>
        <p:spPr>
          <a:xfrm rot="10800000">
            <a:off x="5273750" y="1977656"/>
            <a:ext cx="822251" cy="405346"/>
          </a:xfrm>
          <a:prstGeom prst="curvedConnector3">
            <a:avLst>
              <a:gd name="adj1" fmla="val 50000"/>
            </a:avLst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22441C6-B094-1489-EE03-72A54086A74B}"/>
              </a:ext>
            </a:extLst>
          </p:cNvPr>
          <p:cNvSpPr txBox="1">
            <a:spLocks/>
          </p:cNvSpPr>
          <p:nvPr/>
        </p:nvSpPr>
        <p:spPr>
          <a:xfrm>
            <a:off x="6095999" y="4474998"/>
            <a:ext cx="5503825" cy="209199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6F42C1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gets replaced when </a:t>
            </a:r>
            <a:r>
              <a:rPr lang="en-US" sz="2800" dirty="0">
                <a:solidFill>
                  <a:srgbClr val="6F42C1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is </a:t>
            </a:r>
            <a:r>
              <a:rPr lang="en-US" sz="2800" b="1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instantiated</a:t>
            </a:r>
          </a:p>
        </p:txBody>
      </p:sp>
    </p:spTree>
    <p:extLst>
      <p:ext uri="{BB962C8B-B14F-4D97-AF65-F5344CB8AC3E}">
        <p14:creationId xmlns:p14="http://schemas.microsoft.com/office/powerpoint/2010/main" val="1881545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333E2-5A3F-31ED-B04F-E6D19D8CD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 Instantiation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A9DA2-9B47-4C92-B1D9-58B627744E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&lt;int&gt;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intVec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&lt;double&gt;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doubleVec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string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strVec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&lt;int&gt;&gt;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vecVec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struct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MyCustomType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{};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MyCustomType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 err="1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struct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553F3A1-041F-AB14-2CDA-9F94FCA8B25D}"/>
              </a:ext>
            </a:extLst>
          </p:cNvPr>
          <p:cNvSpPr txBox="1">
            <a:spLocks/>
          </p:cNvSpPr>
          <p:nvPr/>
        </p:nvSpPr>
        <p:spPr>
          <a:xfrm>
            <a:off x="6500038" y="2383001"/>
            <a:ext cx="5503825" cy="209199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 Instantiation</a:t>
            </a:r>
          </a:p>
          <a:p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Code for a specific type is generated on-demand, when you use it</a:t>
            </a:r>
            <a:endParaRPr lang="en-US" sz="2800" b="1" dirty="0"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520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D6302-0BBC-C87E-A86D-98BA0F3A0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630736"/>
            <a:ext cx="11404598" cy="766989"/>
          </a:xfrm>
        </p:spPr>
        <p:txBody>
          <a:bodyPr/>
          <a:lstStyle/>
          <a:p>
            <a:r>
              <a:rPr lang="en-US" dirty="0"/>
              <a:t>Template Instantiation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4CC9E-A5B2-79FC-5271-53534A6327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113168"/>
            <a:ext cx="5538177" cy="4209254"/>
          </a:xfrm>
        </p:spPr>
        <p:txBody>
          <a:bodyPr/>
          <a:lstStyle/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More methods...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&lt;int&gt;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v;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89DE1C-0430-30B3-92E4-E7F859D333F9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60122" y="2113167"/>
            <a:ext cx="5538177" cy="4209255"/>
          </a:xfrm>
        </p:spPr>
        <p:txBody>
          <a:bodyPr/>
          <a:lstStyle/>
          <a:p>
            <a:endParaRPr lang="en-US" b="0" dirty="0">
              <a:solidFill>
                <a:srgbClr val="D73A49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More methods...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v;</a:t>
            </a:r>
          </a:p>
          <a:p>
            <a:endParaRPr lang="en-US" dirty="0"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A51D6B-E9A3-CFA5-7AD7-E3EFEC0144F9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 dirty="0"/>
              <a:t>When you write code like this…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A1601C9-A9F6-F9BE-AE1F-90F2AC897678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 dirty="0"/>
              <a:t>Compiler produces code like this…</a:t>
            </a:r>
          </a:p>
        </p:txBody>
      </p:sp>
    </p:spTree>
    <p:extLst>
      <p:ext uri="{BB962C8B-B14F-4D97-AF65-F5344CB8AC3E}">
        <p14:creationId xmlns:p14="http://schemas.microsoft.com/office/powerpoint/2010/main" val="2679623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7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35B3A-9686-B866-BBA6-C0118443B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template is like a factory</a:t>
            </a:r>
          </a:p>
        </p:txBody>
      </p:sp>
      <p:pic>
        <p:nvPicPr>
          <p:cNvPr id="1026" name="Picture 2" descr="Factory icon - Free download on Iconfinder">
            <a:extLst>
              <a:ext uri="{FF2B5EF4-FFF2-40B4-BE49-F238E27FC236}">
                <a16:creationId xmlns:a16="http://schemas.microsoft.com/office/drawing/2014/main" id="{E2077B8A-25EF-3DA9-2BB5-884F90C63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000" y="1397725"/>
            <a:ext cx="50800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9DF21F6-3902-6652-D5E8-33F536D58420}"/>
              </a:ext>
            </a:extLst>
          </p:cNvPr>
          <p:cNvSpPr txBox="1">
            <a:spLocks/>
          </p:cNvSpPr>
          <p:nvPr/>
        </p:nvSpPr>
        <p:spPr>
          <a:xfrm>
            <a:off x="3471677" y="5367736"/>
            <a:ext cx="5248646" cy="118692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8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sz="2800" dirty="0" err="1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sz="28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sz="28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28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endParaRPr lang="en-US" sz="2800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1908D2C-118C-5AFF-7DF3-297C87C893F5}"/>
              </a:ext>
            </a:extLst>
          </p:cNvPr>
          <p:cNvSpPr txBox="1">
            <a:spLocks/>
          </p:cNvSpPr>
          <p:nvPr/>
        </p:nvSpPr>
        <p:spPr>
          <a:xfrm>
            <a:off x="826534" y="2232247"/>
            <a:ext cx="1148316" cy="7669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endParaRPr lang="en-US" sz="2800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EE0EC9A-AC3F-2D9B-58C0-A7880A19D913}"/>
              </a:ext>
            </a:extLst>
          </p:cNvPr>
          <p:cNvSpPr txBox="1">
            <a:spLocks/>
          </p:cNvSpPr>
          <p:nvPr/>
        </p:nvSpPr>
        <p:spPr>
          <a:xfrm>
            <a:off x="4607442" y="2785996"/>
            <a:ext cx="2977116" cy="7669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Vector&lt;int&gt;</a:t>
            </a:r>
            <a:endParaRPr lang="en-US" sz="2800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687E6D8-F2BA-3EE9-745E-04AD97FA8166}"/>
              </a:ext>
            </a:extLst>
          </p:cNvPr>
          <p:cNvSpPr txBox="1">
            <a:spLocks/>
          </p:cNvSpPr>
          <p:nvPr/>
        </p:nvSpPr>
        <p:spPr>
          <a:xfrm>
            <a:off x="393700" y="4197565"/>
            <a:ext cx="1817872" cy="7669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string</a:t>
            </a:r>
            <a:endParaRPr lang="en-US" sz="2800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DF5B967-BEB3-4A76-1397-7CCF28F203DB}"/>
              </a:ext>
            </a:extLst>
          </p:cNvPr>
          <p:cNvSpPr txBox="1">
            <a:spLocks/>
          </p:cNvSpPr>
          <p:nvPr/>
        </p:nvSpPr>
        <p:spPr>
          <a:xfrm>
            <a:off x="4266387" y="3693371"/>
            <a:ext cx="3659225" cy="7669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Vector&lt;string&gt;</a:t>
            </a:r>
            <a:endParaRPr lang="en-US" sz="2800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0FAD0-805C-E0C3-50D1-0B95E034C6E4}"/>
              </a:ext>
            </a:extLst>
          </p:cNvPr>
          <p:cNvSpPr txBox="1">
            <a:spLocks/>
          </p:cNvSpPr>
          <p:nvPr/>
        </p:nvSpPr>
        <p:spPr>
          <a:xfrm>
            <a:off x="826534" y="2212559"/>
            <a:ext cx="1148316" cy="7669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endParaRPr lang="en-US" sz="2800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67E1D13-E7A7-8B28-4956-7A7B2535A1FD}"/>
              </a:ext>
            </a:extLst>
          </p:cNvPr>
          <p:cNvSpPr txBox="1">
            <a:spLocks/>
          </p:cNvSpPr>
          <p:nvPr/>
        </p:nvSpPr>
        <p:spPr>
          <a:xfrm>
            <a:off x="393700" y="4195988"/>
            <a:ext cx="1817872" cy="7669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string</a:t>
            </a:r>
            <a:endParaRPr lang="en-US" sz="2800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5821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0.00694 L 0.38516 0.09028 " pathEditMode="relative" ptsTypes="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xit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0" presetClass="path" presetSubtype="0" accel="50000" decel="5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0.00671 L 0.31862 -0.1051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924" y="-560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931 -0.11482 " pathEditMode="relative" ptsTypes="AA">
                                      <p:cBhvr>
                                        <p:cTn id="1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0" presetClass="path" presetSubtype="0" accel="50000" decel="5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-4.44444E-6 L 0.31862 0.03542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924" y="175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8" grpId="0" animBg="1"/>
      <p:bldP spid="8" grpId="1" animBg="1"/>
      <p:bldP spid="3" grpId="0" animBg="1"/>
      <p:bldP spid="3" grpId="1" animBg="1"/>
      <p:bldP spid="9" grpId="0" animBg="1"/>
      <p:bldP spid="9" grpId="1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47051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6234A8-DD2B-1886-AB32-5FDB2B207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Templates vs. Types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AC6F805-4BCB-5203-1DDC-EF8294E92387}"/>
              </a:ext>
            </a:extLst>
          </p:cNvPr>
          <p:cNvSpPr txBox="1">
            <a:spLocks/>
          </p:cNvSpPr>
          <p:nvPr/>
        </p:nvSpPr>
        <p:spPr>
          <a:xfrm>
            <a:off x="485848" y="2242079"/>
            <a:ext cx="5503825" cy="118692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8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sz="2800" dirty="0" err="1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sz="28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sz="28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28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endParaRPr lang="en-US" sz="2800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4A0D1F5-A2C4-3C86-3EBA-B6B541C5BAA6}"/>
              </a:ext>
            </a:extLst>
          </p:cNvPr>
          <p:cNvSpPr txBox="1">
            <a:spLocks/>
          </p:cNvSpPr>
          <p:nvPr/>
        </p:nvSpPr>
        <p:spPr>
          <a:xfrm>
            <a:off x="485849" y="3654348"/>
            <a:ext cx="5503825" cy="174484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 is a template.</a:t>
            </a:r>
          </a:p>
          <a:p>
            <a:pPr algn="ctr"/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It’s </a:t>
            </a:r>
            <a:r>
              <a:rPr lang="en-US" sz="2800" b="1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not</a:t>
            </a:r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a type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D184E15-170C-FAD6-6367-26F8C71A007C}"/>
              </a:ext>
            </a:extLst>
          </p:cNvPr>
          <p:cNvSpPr txBox="1">
            <a:spLocks/>
          </p:cNvSpPr>
          <p:nvPr/>
        </p:nvSpPr>
        <p:spPr>
          <a:xfrm>
            <a:off x="6188150" y="2242079"/>
            <a:ext cx="5503824" cy="118692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string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endParaRPr lang="en-US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3A468A2-8CBC-A4D4-DC43-D5487C4A781E}"/>
              </a:ext>
            </a:extLst>
          </p:cNvPr>
          <p:cNvSpPr txBox="1">
            <a:spLocks/>
          </p:cNvSpPr>
          <p:nvPr/>
        </p:nvSpPr>
        <p:spPr>
          <a:xfrm>
            <a:off x="6188150" y="3654348"/>
            <a:ext cx="5503825" cy="174484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 is a type.</a:t>
            </a:r>
          </a:p>
          <a:p>
            <a:pPr algn="ctr"/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A.K.A a template instantiation</a:t>
            </a:r>
          </a:p>
        </p:txBody>
      </p:sp>
    </p:spTree>
    <p:extLst>
      <p:ext uri="{BB962C8B-B14F-4D97-AF65-F5344CB8AC3E}">
        <p14:creationId xmlns:p14="http://schemas.microsoft.com/office/powerpoint/2010/main" val="4210125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4F242-E7CE-2040-A360-B51935337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87F94-8565-2892-7E0F-B1F4E1BE7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Templates vs. Types</a:t>
            </a:r>
          </a:p>
        </p:txBody>
      </p:sp>
      <p:pic>
        <p:nvPicPr>
          <p:cNvPr id="1026" name="Picture 2" descr="Factory icon - Free download on Iconfinder">
            <a:extLst>
              <a:ext uri="{FF2B5EF4-FFF2-40B4-BE49-F238E27FC236}">
                <a16:creationId xmlns:a16="http://schemas.microsoft.com/office/drawing/2014/main" id="{8235A355-6586-063A-995D-AB260982A5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000" y="1397725"/>
            <a:ext cx="50800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46AF197-1E33-989A-AB6E-507958DC2E75}"/>
              </a:ext>
            </a:extLst>
          </p:cNvPr>
          <p:cNvSpPr txBox="1">
            <a:spLocks/>
          </p:cNvSpPr>
          <p:nvPr/>
        </p:nvSpPr>
        <p:spPr>
          <a:xfrm>
            <a:off x="393700" y="2242079"/>
            <a:ext cx="3141774" cy="118692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The template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A5EFA0D-52F6-3D29-7811-7B7C71C05894}"/>
              </a:ext>
            </a:extLst>
          </p:cNvPr>
          <p:cNvSpPr txBox="1">
            <a:spLocks/>
          </p:cNvSpPr>
          <p:nvPr/>
        </p:nvSpPr>
        <p:spPr>
          <a:xfrm>
            <a:off x="7880349" y="3521681"/>
            <a:ext cx="3659225" cy="7669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Vector&lt;string&gt;</a:t>
            </a:r>
            <a:endParaRPr lang="en-US" sz="2800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cxnSp>
        <p:nvCxnSpPr>
          <p:cNvPr id="3" name="Straight Arrow Connector 4">
            <a:extLst>
              <a:ext uri="{FF2B5EF4-FFF2-40B4-BE49-F238E27FC236}">
                <a16:creationId xmlns:a16="http://schemas.microsoft.com/office/drawing/2014/main" id="{BFD97EA8-503E-E85B-251D-774596C2CA20}"/>
              </a:ext>
            </a:extLst>
          </p:cNvPr>
          <p:cNvCxnSpPr>
            <a:cxnSpLocks/>
            <a:stCxn id="4" idx="2"/>
          </p:cNvCxnSpPr>
          <p:nvPr/>
        </p:nvCxnSpPr>
        <p:spPr>
          <a:xfrm rot="16200000" flipH="1">
            <a:off x="2675530" y="2718057"/>
            <a:ext cx="568842" cy="1990728"/>
          </a:xfrm>
          <a:prstGeom prst="curvedConnector2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8CCFAC0-8A7A-FDD8-F69E-0B551C3211D0}"/>
              </a:ext>
            </a:extLst>
          </p:cNvPr>
          <p:cNvSpPr txBox="1">
            <a:spLocks/>
          </p:cNvSpPr>
          <p:nvPr/>
        </p:nvSpPr>
        <p:spPr>
          <a:xfrm>
            <a:off x="8139075" y="1951266"/>
            <a:ext cx="3141774" cy="118692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The type</a:t>
            </a:r>
          </a:p>
        </p:txBody>
      </p:sp>
      <p:cxnSp>
        <p:nvCxnSpPr>
          <p:cNvPr id="15" name="Straight Arrow Connector 4">
            <a:extLst>
              <a:ext uri="{FF2B5EF4-FFF2-40B4-BE49-F238E27FC236}">
                <a16:creationId xmlns:a16="http://schemas.microsoft.com/office/drawing/2014/main" id="{065018AE-F124-9CD1-AFC8-0FB0B8F4772D}"/>
              </a:ext>
            </a:extLst>
          </p:cNvPr>
          <p:cNvCxnSpPr>
            <a:cxnSpLocks/>
            <a:stCxn id="14" idx="2"/>
            <a:endCxn id="8" idx="0"/>
          </p:cNvCxnSpPr>
          <p:nvPr/>
        </p:nvCxnSpPr>
        <p:spPr>
          <a:xfrm rot="5400000">
            <a:off x="9518215" y="3329934"/>
            <a:ext cx="383494" cy="12700"/>
          </a:xfrm>
          <a:prstGeom prst="curvedConnector3">
            <a:avLst>
              <a:gd name="adj1" fmla="val 50000"/>
            </a:avLst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989122A-7AC7-3E14-B494-1C498BD811C7}"/>
              </a:ext>
            </a:extLst>
          </p:cNvPr>
          <p:cNvSpPr txBox="1">
            <a:spLocks/>
          </p:cNvSpPr>
          <p:nvPr/>
        </p:nvSpPr>
        <p:spPr>
          <a:xfrm>
            <a:off x="3471677" y="5367736"/>
            <a:ext cx="5248646" cy="118692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8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sz="2800" dirty="0" err="1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sz="28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sz="28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28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endParaRPr lang="en-US" sz="2800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7605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1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37A6F-F5B1-A9F2-53DA-36C32DE34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the problem with this code?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4D8C4-2EEF-529E-0699-238AA852D8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410789"/>
            <a:ext cx="11404600" cy="4036422"/>
          </a:xfrm>
        </p:spPr>
        <p:txBody>
          <a:bodyPr/>
          <a:lstStyle/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void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foo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main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 {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&lt;double&gt;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v;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foo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(v);</a:t>
            </a:r>
          </a:p>
          <a:p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378587-9D94-E32E-0D05-B1BDD6C0F454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93700" y="5829721"/>
            <a:ext cx="11404600" cy="783730"/>
          </a:xfrm>
        </p:spPr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❌ No suitable user-defined conversion from "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std::vector&lt;double&gt;</a:t>
            </a:r>
            <a:r>
              <a:rPr lang="en-US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 to "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std::vector&lt;int&gt;</a:t>
            </a:r>
            <a:r>
              <a:rPr lang="en-US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 exists</a:t>
            </a:r>
          </a:p>
        </p:txBody>
      </p:sp>
    </p:spTree>
    <p:extLst>
      <p:ext uri="{BB962C8B-B14F-4D97-AF65-F5344CB8AC3E}">
        <p14:creationId xmlns:p14="http://schemas.microsoft.com/office/powerpoint/2010/main" val="1251978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ED3B5-E288-6FEA-410C-3C193D9B8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9D839-2A9B-DD90-D4FF-A5BE3ED43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Note: These are two </a:t>
            </a:r>
            <a:r>
              <a:rPr lang="en-US" dirty="0">
                <a:solidFill>
                  <a:srgbClr val="D73A48"/>
                </a:solidFill>
              </a:rPr>
              <a:t>distinct</a:t>
            </a:r>
            <a:r>
              <a:rPr lang="en-US" dirty="0"/>
              <a:t> types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197B711-19BE-1EE0-3264-DF88C606F7E9}"/>
              </a:ext>
            </a:extLst>
          </p:cNvPr>
          <p:cNvSpPr txBox="1">
            <a:spLocks/>
          </p:cNvSpPr>
          <p:nvPr/>
        </p:nvSpPr>
        <p:spPr>
          <a:xfrm>
            <a:off x="1032982" y="1815223"/>
            <a:ext cx="3659225" cy="7669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Vector&lt;double&gt;</a:t>
            </a:r>
            <a:endParaRPr lang="en-US" sz="2800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64AD071-3187-F5E0-7E88-D403957E3374}"/>
              </a:ext>
            </a:extLst>
          </p:cNvPr>
          <p:cNvSpPr txBox="1">
            <a:spLocks/>
          </p:cNvSpPr>
          <p:nvPr/>
        </p:nvSpPr>
        <p:spPr>
          <a:xfrm>
            <a:off x="8176438" y="1815223"/>
            <a:ext cx="2982580" cy="7669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Vector&lt;int&gt;</a:t>
            </a:r>
            <a:endParaRPr lang="en-US" sz="2800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29D8EF0-0149-4F44-2829-585DD0322E8B}"/>
              </a:ext>
            </a:extLst>
          </p:cNvPr>
          <p:cNvSpPr txBox="1">
            <a:spLocks/>
          </p:cNvSpPr>
          <p:nvPr/>
        </p:nvSpPr>
        <p:spPr>
          <a:xfrm>
            <a:off x="3344087" y="3479929"/>
            <a:ext cx="5503825" cy="191473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These two instantiations (of the same template) are completely different (runtime and compile-time) types</a:t>
            </a:r>
          </a:p>
        </p:txBody>
      </p:sp>
      <p:cxnSp>
        <p:nvCxnSpPr>
          <p:cNvPr id="7" name="Straight Arrow Connector 4">
            <a:extLst>
              <a:ext uri="{FF2B5EF4-FFF2-40B4-BE49-F238E27FC236}">
                <a16:creationId xmlns:a16="http://schemas.microsoft.com/office/drawing/2014/main" id="{06A9FDAD-ADB3-E424-FA16-6A351E0BE7D5}"/>
              </a:ext>
            </a:extLst>
          </p:cNvPr>
          <p:cNvCxnSpPr>
            <a:cxnSpLocks/>
            <a:stCxn id="6" idx="0"/>
            <a:endCxn id="5" idx="2"/>
          </p:cNvCxnSpPr>
          <p:nvPr/>
        </p:nvCxnSpPr>
        <p:spPr>
          <a:xfrm rot="5400000" flipH="1" flipV="1">
            <a:off x="7433006" y="1245207"/>
            <a:ext cx="897717" cy="3571728"/>
          </a:xfrm>
          <a:prstGeom prst="curvedConnector3">
            <a:avLst>
              <a:gd name="adj1" fmla="val 50000"/>
            </a:avLst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4">
            <a:extLst>
              <a:ext uri="{FF2B5EF4-FFF2-40B4-BE49-F238E27FC236}">
                <a16:creationId xmlns:a16="http://schemas.microsoft.com/office/drawing/2014/main" id="{53385196-4FB9-D54B-F2A9-C4CADB1CF389}"/>
              </a:ext>
            </a:extLst>
          </p:cNvPr>
          <p:cNvCxnSpPr>
            <a:cxnSpLocks/>
            <a:stCxn id="6" idx="0"/>
            <a:endCxn id="8" idx="2"/>
          </p:cNvCxnSpPr>
          <p:nvPr/>
        </p:nvCxnSpPr>
        <p:spPr>
          <a:xfrm rot="16200000" flipV="1">
            <a:off x="4030440" y="1414368"/>
            <a:ext cx="897717" cy="3233405"/>
          </a:xfrm>
          <a:prstGeom prst="curvedConnector3">
            <a:avLst>
              <a:gd name="adj1" fmla="val 50000"/>
            </a:avLst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EE20B725-FA9A-4D3C-4D69-8176B4377A8B}"/>
              </a:ext>
            </a:extLst>
          </p:cNvPr>
          <p:cNvSpPr txBox="1">
            <a:spLocks/>
          </p:cNvSpPr>
          <p:nvPr/>
        </p:nvSpPr>
        <p:spPr>
          <a:xfrm>
            <a:off x="393700" y="5812165"/>
            <a:ext cx="11404600" cy="830197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349250" indent="-3365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626B74"/>
                </a:solidFill>
              </a:rPr>
              <a:t>Food for thought: compare this to a language like Java where an </a:t>
            </a:r>
            <a:r>
              <a:rPr lang="en-US" dirty="0" err="1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ArrayList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&lt;int&gt;</a:t>
            </a:r>
            <a:r>
              <a:rPr lang="en-US" dirty="0">
                <a:solidFill>
                  <a:srgbClr val="D73A48"/>
                </a:solidFill>
              </a:rPr>
              <a:t> </a:t>
            </a:r>
            <a:r>
              <a:rPr lang="en-US" dirty="0">
                <a:solidFill>
                  <a:srgbClr val="626B74"/>
                </a:solidFill>
              </a:rPr>
              <a:t>and </a:t>
            </a:r>
            <a:r>
              <a:rPr lang="en-US" dirty="0" err="1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ArrayList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&lt;double&gt; </a:t>
            </a:r>
            <a:r>
              <a:rPr lang="en-US" dirty="0">
                <a:solidFill>
                  <a:srgbClr val="626B74"/>
                </a:solidFill>
              </a:rPr>
              <a:t>share the same runtime type.</a:t>
            </a:r>
          </a:p>
        </p:txBody>
      </p:sp>
    </p:spTree>
    <p:extLst>
      <p:ext uri="{BB962C8B-B14F-4D97-AF65-F5344CB8AC3E}">
        <p14:creationId xmlns:p14="http://schemas.microsoft.com/office/powerpoint/2010/main" val="2344588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7BED9-E35B-EB3B-10AF-F1D6A9FDE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5F1347C-D954-8F56-0F1D-FB0A132EC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 Fact: </a:t>
            </a:r>
            <a:r>
              <a:rPr lang="en-US" dirty="0" err="1">
                <a:solidFill>
                  <a:srgbClr val="D73A48"/>
                </a:solidFill>
              </a:rPr>
              <a:t>typename</a:t>
            </a:r>
            <a:r>
              <a:rPr lang="en-US" dirty="0"/>
              <a:t> is interchangeable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539A925-276B-0F7C-0BFA-3094CF0B2005}"/>
              </a:ext>
            </a:extLst>
          </p:cNvPr>
          <p:cNvSpPr txBox="1">
            <a:spLocks/>
          </p:cNvSpPr>
          <p:nvPr/>
        </p:nvSpPr>
        <p:spPr>
          <a:xfrm>
            <a:off x="677233" y="3572998"/>
            <a:ext cx="5248646" cy="222896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1" dirty="0" err="1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N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SizeTemplate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{};</a:t>
            </a:r>
          </a:p>
          <a:p>
            <a:b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SizeTemplate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dirty="0">
                <a:solidFill>
                  <a:srgbClr val="005CC5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5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s;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6C38A64-C8A8-1C8F-99CD-8D2E226ABB7E}"/>
              </a:ext>
            </a:extLst>
          </p:cNvPr>
          <p:cNvSpPr txBox="1">
            <a:spLocks/>
          </p:cNvSpPr>
          <p:nvPr/>
        </p:nvSpPr>
        <p:spPr>
          <a:xfrm>
            <a:off x="3471677" y="2051151"/>
            <a:ext cx="5248646" cy="118692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8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sz="2800" b="1" dirty="0" err="1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sz="28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sz="28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28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Vector{};</a:t>
            </a:r>
            <a:endParaRPr lang="en-US" sz="2800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CDC2EA1-2351-B630-521D-F431854E14CA}"/>
              </a:ext>
            </a:extLst>
          </p:cNvPr>
          <p:cNvSpPr txBox="1">
            <a:spLocks/>
          </p:cNvSpPr>
          <p:nvPr/>
        </p:nvSpPr>
        <p:spPr>
          <a:xfrm>
            <a:off x="6379533" y="3551648"/>
            <a:ext cx="5248646" cy="222896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1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bool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BoolTemplate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{};</a:t>
            </a:r>
          </a:p>
          <a:p>
            <a:b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BoolTemplate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dirty="0">
                <a:solidFill>
                  <a:srgbClr val="005CC5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true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b;</a:t>
            </a:r>
          </a:p>
        </p:txBody>
      </p:sp>
    </p:spTree>
    <p:extLst>
      <p:ext uri="{BB962C8B-B14F-4D97-AF65-F5344CB8AC3E}">
        <p14:creationId xmlns:p14="http://schemas.microsoft.com/office/powerpoint/2010/main" val="930176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  <p:extLst>
    <p:ext uri="{6950BFC3-D8DA-4A85-94F7-54DA5524770B}">
      <p188:commentRel xmlns:p188="http://schemas.microsoft.com/office/powerpoint/2018/8/main" r:id="rId2"/>
    </p:ext>
  </p:extLs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FE0CA-A580-EC92-887C-24C269BEF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049861E-E7D4-8489-D2F1-1FFBC35D7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 Fact: </a:t>
            </a:r>
            <a:r>
              <a:rPr lang="en-US" dirty="0" err="1">
                <a:solidFill>
                  <a:srgbClr val="D73A48"/>
                </a:solidFill>
              </a:rPr>
              <a:t>typename</a:t>
            </a:r>
            <a:r>
              <a:rPr lang="en-US" dirty="0"/>
              <a:t> is interchangeable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AFE748A-288A-617B-F566-597EF6B57E32}"/>
              </a:ext>
            </a:extLst>
          </p:cNvPr>
          <p:cNvSpPr txBox="1">
            <a:spLocks/>
          </p:cNvSpPr>
          <p:nvPr/>
        </p:nvSpPr>
        <p:spPr>
          <a:xfrm>
            <a:off x="393700" y="1722018"/>
            <a:ext cx="11404600" cy="286061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dirty="0" err="1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 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dirty="0" err="1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 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N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 </a:t>
            </a:r>
          </a:p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struct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 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array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 </a:t>
            </a:r>
            <a:r>
              <a:rPr lang="en-US" dirty="0">
                <a:solidFill>
                  <a:srgbClr val="626B74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/* ... */ 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  <a:p>
            <a:b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dirty="0">
                <a:solidFill>
                  <a:srgbClr val="6A737D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An array of exactly 5 strings</a:t>
            </a:r>
            <a:endParaRPr lang="en-US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array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string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dirty="0">
                <a:solidFill>
                  <a:srgbClr val="005CC5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5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 err="1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arr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A8CA96-9CEB-89BB-5700-5DC78D3E9F99}"/>
              </a:ext>
            </a:extLst>
          </p:cNvPr>
          <p:cNvSpPr txBox="1">
            <a:spLocks/>
          </p:cNvSpPr>
          <p:nvPr/>
        </p:nvSpPr>
        <p:spPr>
          <a:xfrm>
            <a:off x="393700" y="5010880"/>
            <a:ext cx="11404600" cy="121638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9250" indent="-3365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626B74"/>
                </a:solidFill>
              </a:rPr>
              <a:t>Why use an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array</a:t>
            </a:r>
            <a:r>
              <a:rPr lang="en-US" dirty="0">
                <a:solidFill>
                  <a:srgbClr val="626B74"/>
                </a:solidFill>
              </a:rPr>
              <a:t> over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dirty="0">
                <a:solidFill>
                  <a:srgbClr val="626B74"/>
                </a:solidFill>
              </a:rPr>
              <a:t>? It avoids heap allocations. </a:t>
            </a:r>
          </a:p>
          <a:p>
            <a:pPr marL="1270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626B74"/>
                </a:solidFill>
              </a:rPr>
              <a:t>The compiler will know exactly how much space an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array&lt;string, 5&gt;</a:t>
            </a:r>
            <a:r>
              <a:rPr lang="en-US" dirty="0">
                <a:solidFill>
                  <a:srgbClr val="626B74"/>
                </a:solidFill>
              </a:rPr>
              <a:t> takes (the size is baked into the type!), allowing it to be stack allocated</a:t>
            </a:r>
          </a:p>
        </p:txBody>
      </p:sp>
    </p:spTree>
    <p:extLst>
      <p:ext uri="{BB962C8B-B14F-4D97-AF65-F5344CB8AC3E}">
        <p14:creationId xmlns:p14="http://schemas.microsoft.com/office/powerpoint/2010/main" val="398801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928629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B415C-D5FD-7E7B-E804-B95BB0347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👻 A few template quirks 👻</a:t>
            </a:r>
          </a:p>
        </p:txBody>
      </p:sp>
    </p:spTree>
    <p:extLst>
      <p:ext uri="{BB962C8B-B14F-4D97-AF65-F5344CB8AC3E}">
        <p14:creationId xmlns:p14="http://schemas.microsoft.com/office/powerpoint/2010/main" val="18027909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F21AE-10A5-61FA-2DDE-A5811E4B1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(1) Must copy </a:t>
            </a:r>
            <a:r>
              <a:rPr lang="en-US" dirty="0">
                <a:solidFill>
                  <a:srgbClr val="D73A48"/>
                </a:solidFill>
              </a:rPr>
              <a:t>template &lt;…&gt;</a:t>
            </a:r>
            <a:r>
              <a:rPr lang="en-US" dirty="0"/>
              <a:t> syntax in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</a:t>
            </a:r>
            <a:r>
              <a:rPr lang="en-US" dirty="0" err="1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cpp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5889230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B71AD-6CF5-68C4-C91F-0AB953E97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630736"/>
            <a:ext cx="11404598" cy="766989"/>
          </a:xfrm>
        </p:spPr>
        <p:txBody>
          <a:bodyPr>
            <a:normAutofit/>
          </a:bodyPr>
          <a:lstStyle/>
          <a:p>
            <a:r>
              <a:rPr lang="en-US" dirty="0"/>
              <a:t>Template class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5868A-B575-985E-71DF-C8BC7AE8A0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</a:t>
            </a:r>
            <a:r>
              <a:rPr lang="en-US" b="0" dirty="0" err="1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Vector.h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53CF8F-0407-F49F-DC51-723920470F4A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</a:t>
            </a:r>
            <a:r>
              <a:rPr lang="en-US" b="0" dirty="0" err="1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Vector.cpp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Vector::at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Implementation...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endParaRPr lang="en-US" dirty="0"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E850E2-15A5-CDBE-4AEF-BDE07DE0AF03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93700" y="1541416"/>
            <a:ext cx="11404598" cy="428061"/>
          </a:xfrm>
        </p:spPr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 dirty="0"/>
              <a:t>When implementing a template, you might try something like this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9C8B4AE-5086-A3D8-14B8-9FDDDC4474AD}"/>
              </a:ext>
            </a:extLst>
          </p:cNvPr>
          <p:cNvSpPr txBox="1">
            <a:spLocks/>
          </p:cNvSpPr>
          <p:nvPr/>
        </p:nvSpPr>
        <p:spPr>
          <a:xfrm>
            <a:off x="5528441" y="5316584"/>
            <a:ext cx="5325149" cy="119498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Compiler:</a:t>
            </a:r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“I don’t know what </a:t>
            </a:r>
            <a:r>
              <a:rPr lang="en-US" sz="2800" dirty="0">
                <a:solidFill>
                  <a:srgbClr val="7030A0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is!”</a:t>
            </a:r>
          </a:p>
        </p:txBody>
      </p:sp>
      <p:cxnSp>
        <p:nvCxnSpPr>
          <p:cNvPr id="9" name="Straight Arrow Connector 4">
            <a:extLst>
              <a:ext uri="{FF2B5EF4-FFF2-40B4-BE49-F238E27FC236}">
                <a16:creationId xmlns:a16="http://schemas.microsoft.com/office/drawing/2014/main" id="{AA6732AC-188A-4C01-64E8-446635FBD899}"/>
              </a:ext>
            </a:extLst>
          </p:cNvPr>
          <p:cNvCxnSpPr>
            <a:cxnSpLocks/>
            <a:stCxn id="8" idx="0"/>
          </p:cNvCxnSpPr>
          <p:nvPr/>
        </p:nvCxnSpPr>
        <p:spPr>
          <a:xfrm rot="16200000" flipV="1">
            <a:off x="6734430" y="3859998"/>
            <a:ext cx="1580156" cy="1333016"/>
          </a:xfrm>
          <a:prstGeom prst="curvedConnector3">
            <a:avLst>
              <a:gd name="adj1" fmla="val 50000"/>
            </a:avLst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1951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8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F408A-0810-A650-1F7B-EA9D4A208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 class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3C6ED-0BEC-1F3E-1C4B-8288FB076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</a:t>
            </a:r>
            <a:r>
              <a:rPr lang="en-US" b="0" dirty="0" err="1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Vector.cpp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1" dirty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1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1" dirty="0" err="1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b="1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 dirty="0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1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Implementation...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1E281B-5EFD-2E1A-D103-716647F52B4D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 dirty="0"/>
              <a:t>When implementing a template, must copy over template declaration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E32A4DC-6EB7-2068-28B3-BDDCE143F849}"/>
              </a:ext>
            </a:extLst>
          </p:cNvPr>
          <p:cNvSpPr txBox="1">
            <a:spLocks/>
          </p:cNvSpPr>
          <p:nvPr/>
        </p:nvSpPr>
        <p:spPr>
          <a:xfrm>
            <a:off x="6096000" y="4719091"/>
            <a:ext cx="5325149" cy="119498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Does anyone still see a problem with this?</a:t>
            </a:r>
          </a:p>
        </p:txBody>
      </p:sp>
    </p:spTree>
    <p:extLst>
      <p:ext uri="{BB962C8B-B14F-4D97-AF65-F5344CB8AC3E}">
        <p14:creationId xmlns:p14="http://schemas.microsoft.com/office/powerpoint/2010/main" val="340410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EB8AA-8C3C-C8BE-22F9-23CE13E92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DE75-3621-73D7-24D3-1882A9E31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 class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8AEAB-9EE9-440B-B84B-BF6751CAD2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</a:t>
            </a:r>
            <a:r>
              <a:rPr lang="en-US" b="0" dirty="0" err="1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Vector.cpp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 dirty="0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1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1" dirty="0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1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Implementation...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C7311C-6885-F562-1829-61BF104EA44D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dirty="0"/>
              <a:t> is not a type, but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Vector&lt;T&gt;</a:t>
            </a:r>
            <a:r>
              <a:rPr lang="en-US" dirty="0"/>
              <a:t> is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C2ACFEE-34F1-261D-5110-1DFAD84CE582}"/>
              </a:ext>
            </a:extLst>
          </p:cNvPr>
          <p:cNvSpPr txBox="1">
            <a:spLocks/>
          </p:cNvSpPr>
          <p:nvPr/>
        </p:nvSpPr>
        <p:spPr>
          <a:xfrm>
            <a:off x="6096000" y="4719091"/>
            <a:ext cx="5325149" cy="119498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Compiler:</a:t>
            </a:r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“Ahh.. I’m happy now </a:t>
            </a:r>
            <a:r>
              <a:rPr lang="en-US" sz="2800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😌😌</a:t>
            </a:r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17830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561DF-D519-20E0-CFCA-F7F2E1860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34A82-286D-B9CD-3C1B-7DC159DA1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(2)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.h</a:t>
            </a:r>
            <a:r>
              <a:rPr lang="en-US" dirty="0"/>
              <a:t> must include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</a:t>
            </a:r>
            <a:r>
              <a:rPr lang="en-US" dirty="0" err="1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cpp</a:t>
            </a:r>
            <a:r>
              <a:rPr lang="en-US" dirty="0"/>
              <a:t> at bottom of file</a:t>
            </a:r>
          </a:p>
        </p:txBody>
      </p:sp>
    </p:spTree>
    <p:extLst>
      <p:ext uri="{BB962C8B-B14F-4D97-AF65-F5344CB8AC3E}">
        <p14:creationId xmlns:p14="http://schemas.microsoft.com/office/powerpoint/2010/main" val="391616821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1CAD4-2A8A-0C68-D9BE-C856D9C44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FE56D-AB16-A712-EC7C-A41357F6A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630736"/>
            <a:ext cx="11404598" cy="766989"/>
          </a:xfrm>
        </p:spPr>
        <p:txBody>
          <a:bodyPr>
            <a:normAutofit/>
          </a:bodyPr>
          <a:lstStyle/>
          <a:p>
            <a:r>
              <a:rPr lang="en-US" dirty="0"/>
              <a:t>Normal class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4F9500-5B79-875F-8330-BA510A13D6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100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</a:t>
            </a:r>
            <a:r>
              <a:rPr lang="en-US" sz="2100" b="0" dirty="0" err="1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StrVector.h</a:t>
            </a:r>
            <a:endParaRPr lang="en-US" sz="2100" b="0" dirty="0">
              <a:solidFill>
                <a:srgbClr val="6A737D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endParaRPr lang="en-US" sz="21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1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21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1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StrVector</a:t>
            </a:r>
            <a:r>
              <a:rPr lang="en-US" sz="21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sz="21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sz="21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1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string</a:t>
            </a:r>
            <a:r>
              <a:rPr lang="en-US" sz="21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1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1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sz="21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100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sz="21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100" b="0" dirty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sz="21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sz="21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82C7A2-E066-D2E3-6C43-A60020A8B14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Autofit/>
          </a:bodyPr>
          <a:lstStyle/>
          <a:p>
            <a:r>
              <a:rPr lang="en-US" sz="2100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</a:t>
            </a:r>
            <a:r>
              <a:rPr lang="en-US" sz="2100" b="0" dirty="0" err="1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StrVector.cpp</a:t>
            </a:r>
            <a:endParaRPr lang="en-US" sz="2100" b="0" dirty="0">
              <a:solidFill>
                <a:srgbClr val="6A737D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endParaRPr lang="en-US" sz="21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100" b="1" dirty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#include</a:t>
            </a:r>
            <a:r>
              <a:rPr lang="en-US" sz="2100" b="1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100" b="1" dirty="0">
                <a:solidFill>
                  <a:srgbClr val="032F62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</a:t>
            </a:r>
            <a:r>
              <a:rPr lang="en-US" sz="2100" b="1" dirty="0" err="1">
                <a:solidFill>
                  <a:srgbClr val="032F62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StrVector.h</a:t>
            </a:r>
            <a:r>
              <a:rPr lang="en-US" sz="2100" b="1" dirty="0">
                <a:solidFill>
                  <a:srgbClr val="032F62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</a:t>
            </a:r>
            <a:endParaRPr lang="en-US" sz="2100" b="1" dirty="0">
              <a:solidFill>
                <a:srgbClr val="24292E"/>
              </a:solidFill>
              <a:effectLst/>
              <a:highlight>
                <a:srgbClr val="FFFF00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br>
              <a:rPr lang="en-US" sz="21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sz="21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string</a:t>
            </a:r>
            <a:r>
              <a:rPr lang="en-US" sz="21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1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1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StrVector</a:t>
            </a:r>
            <a:r>
              <a:rPr lang="en-US" sz="21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1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sz="21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100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sz="21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100" b="0" dirty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sz="21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</a:p>
          <a:p>
            <a:r>
              <a:rPr lang="en-US" sz="21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{</a:t>
            </a:r>
          </a:p>
          <a:p>
            <a:r>
              <a:rPr lang="en-US" sz="2100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Implementation...</a:t>
            </a:r>
            <a:endParaRPr lang="en-US" sz="21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1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br>
              <a:rPr lang="en-US" sz="21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endParaRPr lang="en-US" sz="21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865F04-48B3-A2D1-6E74-8185736C4939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93700" y="1541416"/>
            <a:ext cx="11404598" cy="428061"/>
          </a:xfrm>
        </p:spPr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 dirty="0"/>
              <a:t>For non-template classes, the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cpp</a:t>
            </a:r>
            <a:r>
              <a:rPr lang="en-US" dirty="0"/>
              <a:t> file includes the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.h</a:t>
            </a:r>
            <a:r>
              <a:rPr lang="en-US" dirty="0"/>
              <a:t> file </a:t>
            </a:r>
          </a:p>
        </p:txBody>
      </p:sp>
    </p:spTree>
    <p:extLst>
      <p:ext uri="{BB962C8B-B14F-4D97-AF65-F5344CB8AC3E}">
        <p14:creationId xmlns:p14="http://schemas.microsoft.com/office/powerpoint/2010/main" val="94442536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C94AF-9585-20AF-0704-AE4E208E6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FFE85-8BB9-BF92-7C94-4E0C47223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630736"/>
            <a:ext cx="11404598" cy="766989"/>
          </a:xfrm>
        </p:spPr>
        <p:txBody>
          <a:bodyPr>
            <a:normAutofit/>
          </a:bodyPr>
          <a:lstStyle/>
          <a:p>
            <a:r>
              <a:rPr lang="en-US" dirty="0"/>
              <a:t>Template class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ACCA4-E3FC-C3AB-A66D-C2602097AE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</a:t>
            </a:r>
            <a:r>
              <a:rPr lang="en-US" sz="2000" b="0" dirty="0" err="1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Vector.h</a:t>
            </a:r>
            <a:endParaRPr lang="en-US" sz="20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b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sz="2000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sz="20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T</a:t>
            </a:r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  <a:p>
            <a:b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sz="2000" b="1" dirty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#include</a:t>
            </a:r>
            <a:r>
              <a:rPr lang="en-US" sz="2000" b="1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1" dirty="0">
                <a:solidFill>
                  <a:srgbClr val="032F62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</a:t>
            </a:r>
            <a:r>
              <a:rPr lang="en-US" sz="2000" b="1" dirty="0" err="1">
                <a:solidFill>
                  <a:srgbClr val="032F62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Vector.cpp</a:t>
            </a:r>
            <a:r>
              <a:rPr lang="en-US" sz="2000" b="1" dirty="0">
                <a:solidFill>
                  <a:srgbClr val="032F62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</a:t>
            </a:r>
            <a:endParaRPr lang="en-US" sz="2000" b="1" dirty="0">
              <a:solidFill>
                <a:srgbClr val="24292E"/>
              </a:solidFill>
              <a:effectLst/>
              <a:highlight>
                <a:srgbClr val="FFFF00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2F6540-8C8C-6FD3-373D-DAC1B2384816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Autofit/>
          </a:bodyPr>
          <a:lstStyle/>
          <a:p>
            <a:r>
              <a:rPr lang="en-US" sz="2200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</a:t>
            </a:r>
            <a:r>
              <a:rPr lang="en-US" sz="2200" b="0" dirty="0" err="1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Vector.cpp</a:t>
            </a:r>
            <a:endParaRPr lang="en-US" sz="2200" b="0" dirty="0">
              <a:solidFill>
                <a:srgbClr val="6A737D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br>
              <a:rPr lang="en-US" sz="22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sz="22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2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sz="2200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sz="22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2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2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sz="22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2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2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2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sz="22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2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2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&gt;::</a:t>
            </a:r>
            <a:r>
              <a:rPr lang="en-US" sz="22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sz="22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200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sz="22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200" b="0" dirty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sz="22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sz="2200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Implementation...</a:t>
            </a:r>
            <a:endParaRPr lang="en-US" sz="2200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2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3C7DDB-B31C-7054-FF1B-0CD348DC2D14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93700" y="1541416"/>
            <a:ext cx="11404598" cy="428061"/>
          </a:xfrm>
        </p:spPr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 dirty="0"/>
              <a:t>For template classes, the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.h</a:t>
            </a:r>
            <a:r>
              <a:rPr lang="en-US" dirty="0"/>
              <a:t> file includes the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cpp</a:t>
            </a:r>
            <a:r>
              <a:rPr lang="en-US" dirty="0"/>
              <a:t> file</a:t>
            </a:r>
          </a:p>
        </p:txBody>
      </p:sp>
    </p:spTree>
    <p:extLst>
      <p:ext uri="{BB962C8B-B14F-4D97-AF65-F5344CB8AC3E}">
        <p14:creationId xmlns:p14="http://schemas.microsoft.com/office/powerpoint/2010/main" val="103882817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76A03F8-7C75-9DF9-5AE9-EC64E61F2C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Template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.h</a:t>
            </a:r>
            <a:r>
              <a:rPr lang="en-US" dirty="0"/>
              <a:t> must include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cpp</a:t>
            </a:r>
            <a:r>
              <a:rPr lang="en-US" dirty="0"/>
              <a:t> due to the way template code generation is implemented in the compiler (and linker)</a:t>
            </a:r>
          </a:p>
          <a:p>
            <a:r>
              <a:rPr lang="en-US" dirty="0"/>
              <a:t>Don’t worry too much about the </a:t>
            </a:r>
            <a:r>
              <a:rPr lang="en-US" i="1" dirty="0"/>
              <a:t>why</a:t>
            </a:r>
            <a:r>
              <a:rPr lang="en-US" dirty="0"/>
              <a:t> (unless you’re curious!)</a:t>
            </a:r>
          </a:p>
          <a:p>
            <a:r>
              <a:rPr lang="en-US" dirty="0"/>
              <a:t>There are ways to get around this (ask us after!)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C5376F9-C29F-F434-BD9A-97127F785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That’s pretty weird 🤨 Why?</a:t>
            </a:r>
          </a:p>
        </p:txBody>
      </p:sp>
    </p:spTree>
    <p:extLst>
      <p:ext uri="{BB962C8B-B14F-4D97-AF65-F5344CB8AC3E}">
        <p14:creationId xmlns:p14="http://schemas.microsoft.com/office/powerpoint/2010/main" val="3016895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587BD-5F81-8D2D-DEC4-047D6BA7A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190F-B04F-9BE7-55BD-BC9FF0C3B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(3) </a:t>
            </a:r>
            <a:r>
              <a:rPr lang="en-US" dirty="0" err="1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dirty="0"/>
              <a:t> is the same as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</a:p>
        </p:txBody>
      </p:sp>
    </p:spTree>
    <p:extLst>
      <p:ext uri="{BB962C8B-B14F-4D97-AF65-F5344CB8AC3E}">
        <p14:creationId xmlns:p14="http://schemas.microsoft.com/office/powerpoint/2010/main" val="114946790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A4FAFA5-33CD-ED9A-6026-CB6D360BF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(3) </a:t>
            </a:r>
            <a:r>
              <a:rPr lang="en-US" dirty="0" err="1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dirty="0"/>
              <a:t> is the same as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CF125B4-AF78-8347-2010-178E870A1053}"/>
              </a:ext>
            </a:extLst>
          </p:cNvPr>
          <p:cNvSpPr txBox="1">
            <a:spLocks/>
          </p:cNvSpPr>
          <p:nvPr/>
        </p:nvSpPr>
        <p:spPr>
          <a:xfrm>
            <a:off x="3471677" y="2476454"/>
            <a:ext cx="5248646" cy="118692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8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sz="2800" b="1" dirty="0" err="1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sz="28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sz="28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28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Vector{};</a:t>
            </a:r>
            <a:endParaRPr lang="en-US" sz="2800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1D10133-33B0-2EE5-0C14-C2775755A38F}"/>
              </a:ext>
            </a:extLst>
          </p:cNvPr>
          <p:cNvSpPr txBox="1">
            <a:spLocks/>
          </p:cNvSpPr>
          <p:nvPr/>
        </p:nvSpPr>
        <p:spPr>
          <a:xfrm>
            <a:off x="3471677" y="4045232"/>
            <a:ext cx="5248646" cy="118692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8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sz="2800" b="1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28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sz="28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28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Vector{};</a:t>
            </a:r>
            <a:endParaRPr lang="en-US" sz="2800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6042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AFD9F-9AE4-5524-6428-E543AC49D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630736"/>
            <a:ext cx="11404598" cy="766989"/>
          </a:xfrm>
        </p:spPr>
        <p:txBody>
          <a:bodyPr>
            <a:normAutofit/>
          </a:bodyPr>
          <a:lstStyle/>
          <a:p>
            <a:r>
              <a:rPr lang="en-US" dirty="0"/>
              <a:t>(3) </a:t>
            </a:r>
            <a:r>
              <a:rPr lang="en-US" dirty="0" err="1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dirty="0"/>
              <a:t> is the same as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CEEF5-E556-F452-9179-BAE19D07BD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495226"/>
            <a:ext cx="5538177" cy="1107192"/>
          </a:xfrm>
        </p:spPr>
        <p:txBody>
          <a:bodyPr>
            <a:noAutofit/>
          </a:bodyPr>
          <a:lstStyle/>
          <a:p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sz="2000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K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struct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pair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  <a:b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endParaRPr lang="en-US" sz="2000" dirty="0"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7CE033-D671-12F6-79BB-4D8279F34FE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60122" y="2495225"/>
            <a:ext cx="5538177" cy="1107193"/>
          </a:xfrm>
        </p:spPr>
        <p:txBody>
          <a:bodyPr>
            <a:normAutofit lnSpcReduction="10000"/>
          </a:bodyPr>
          <a:lstStyle/>
          <a:p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K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sz="20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struct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pair</a:t>
            </a:r>
            <a:r>
              <a:rPr lang="en-US" sz="20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CEA1BA-6741-6E81-6E0F-2FA2E7606243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93700" y="1541416"/>
            <a:ext cx="11404598" cy="515984"/>
          </a:xfrm>
        </p:spPr>
        <p:txBody>
          <a:bodyPr>
            <a:normAutofit/>
          </a:bodyPr>
          <a:lstStyle/>
          <a:p>
            <a:pPr marL="12700" indent="0">
              <a:buNone/>
            </a:pPr>
            <a:r>
              <a:rPr lang="en-US" dirty="0"/>
              <a:t>All of the following are identical:</a:t>
            </a:r>
          </a:p>
          <a:p>
            <a:pPr marL="12700" indent="0">
              <a:buNone/>
            </a:pP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0EFA270-341D-9480-F360-C9508A28EE53}"/>
              </a:ext>
            </a:extLst>
          </p:cNvPr>
          <p:cNvSpPr txBox="1">
            <a:spLocks/>
          </p:cNvSpPr>
          <p:nvPr/>
        </p:nvSpPr>
        <p:spPr>
          <a:xfrm>
            <a:off x="393699" y="3877336"/>
            <a:ext cx="5538177" cy="110719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0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sz="20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20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K</a:t>
            </a:r>
            <a:r>
              <a:rPr lang="en-US" sz="20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dirty="0" err="1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sz="20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sz="20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struct</a:t>
            </a:r>
            <a:r>
              <a:rPr lang="en-US" sz="20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pair</a:t>
            </a:r>
            <a:r>
              <a:rPr lang="en-US" sz="20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  <a:br>
              <a:rPr lang="en-US" sz="20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endParaRPr lang="en-US" sz="2000" dirty="0"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D03D6DF0-DCE5-A9BE-BFDB-49C8D4FF17A2}"/>
              </a:ext>
            </a:extLst>
          </p:cNvPr>
          <p:cNvSpPr txBox="1">
            <a:spLocks/>
          </p:cNvSpPr>
          <p:nvPr/>
        </p:nvSpPr>
        <p:spPr>
          <a:xfrm>
            <a:off x="6260121" y="3877335"/>
            <a:ext cx="5538177" cy="110719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 lnSpcReduction="10000"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0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sz="20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20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K</a:t>
            </a:r>
            <a:r>
              <a:rPr lang="en-US" sz="20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dirty="0" err="1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sz="20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0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sz="20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struct</a:t>
            </a:r>
            <a:r>
              <a:rPr lang="en-US" sz="20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pair</a:t>
            </a:r>
            <a:r>
              <a:rPr lang="en-US" sz="20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88427845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81895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677C4-1844-C4A6-59D8-A7F8EA4A8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142E1-AA1A-4CE3-7177-08C6B3552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Demo</a:t>
            </a:r>
          </a:p>
        </p:txBody>
      </p:sp>
    </p:spTree>
    <p:extLst>
      <p:ext uri="{BB962C8B-B14F-4D97-AF65-F5344CB8AC3E}">
        <p14:creationId xmlns:p14="http://schemas.microsoft.com/office/powerpoint/2010/main" val="89339976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BE917-BB21-70CC-0E24-C9A617AFC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implement </a:t>
            </a:r>
            <a:r>
              <a:rPr lang="en-US" dirty="0">
                <a:solidFill>
                  <a:srgbClr val="D73A48"/>
                </a:solidFill>
              </a:rPr>
              <a:t>Vector&lt;T&gt;</a:t>
            </a:r>
            <a:endParaRPr lang="en-US" dirty="0">
              <a:solidFill>
                <a:srgbClr val="D73A48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989057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078140D-8408-E6A7-B200-718839F061A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106l.vercel.app/vector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630326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779837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B8096-C609-D5B8-E8BE-F8D75CBB9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56368-77D3-7DAC-AD23-7303D143F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 Correctness</a:t>
            </a:r>
          </a:p>
        </p:txBody>
      </p:sp>
    </p:spTree>
    <p:extLst>
      <p:ext uri="{BB962C8B-B14F-4D97-AF65-F5344CB8AC3E}">
        <p14:creationId xmlns:p14="http://schemas.microsoft.com/office/powerpoint/2010/main" val="128998308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F7A5B-F159-D1DF-0F8F-A8B7F8C6B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use our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dirty="0"/>
              <a:t> class!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0BE75-70A1-6EA5-0948-6D0336AF29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void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printVec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for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++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cout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dirty="0" err="1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.at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dirty="0" err="1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 "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}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cout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endl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endParaRPr lang="en-US" dirty="0"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33CDF2B-8388-0867-8CF3-40D0450CEA3C}"/>
              </a:ext>
            </a:extLst>
          </p:cNvPr>
          <p:cNvSpPr txBox="1">
            <a:spLocks/>
          </p:cNvSpPr>
          <p:nvPr/>
        </p:nvSpPr>
        <p:spPr>
          <a:xfrm>
            <a:off x="5477641" y="4719090"/>
            <a:ext cx="5325149" cy="119498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Compiler:</a:t>
            </a:r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“No such method </a:t>
            </a:r>
            <a:r>
              <a:rPr lang="en-US" sz="2800" dirty="0">
                <a:solidFill>
                  <a:srgbClr val="6F42C1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</a:t>
            </a:r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!”</a:t>
            </a:r>
          </a:p>
        </p:txBody>
      </p:sp>
      <p:cxnSp>
        <p:nvCxnSpPr>
          <p:cNvPr id="9" name="Straight Arrow Connector 4">
            <a:extLst>
              <a:ext uri="{FF2B5EF4-FFF2-40B4-BE49-F238E27FC236}">
                <a16:creationId xmlns:a16="http://schemas.microsoft.com/office/drawing/2014/main" id="{59B3ADDB-7195-C16E-360F-8450A6FDAADF}"/>
              </a:ext>
            </a:extLst>
          </p:cNvPr>
          <p:cNvCxnSpPr>
            <a:cxnSpLocks/>
            <a:stCxn id="8" idx="0"/>
          </p:cNvCxnSpPr>
          <p:nvPr/>
        </p:nvCxnSpPr>
        <p:spPr>
          <a:xfrm rot="16200000" flipV="1">
            <a:off x="6231763" y="2810637"/>
            <a:ext cx="2052090" cy="1764816"/>
          </a:xfrm>
          <a:prstGeom prst="curvedConnector3">
            <a:avLst>
              <a:gd name="adj1" fmla="val 50000"/>
            </a:avLst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7573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6E90B-1379-B99F-840F-3755EA300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Huh? But there is a method called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DED15-E77E-1137-7B19-6208D32FD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 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b="0" dirty="0">
              <a:solidFill>
                <a:srgbClr val="24292E">
                  <a:alpha val="25000"/>
                </a:srgbClr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r>
              <a:rPr lang="en-US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bool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empty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b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operator[]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 dirty="0" err="1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 </a:t>
            </a:r>
          </a:p>
          <a:p>
            <a:r>
              <a:rPr lang="en-US" b="0" dirty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T</a:t>
            </a:r>
            <a:r>
              <a:rPr lang="en-US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 err="1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void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push_back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E3620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625871-B6F1-8450-6A37-BA94CC2BBE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9050" y="1917895"/>
            <a:ext cx="2241550" cy="402804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76666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5C14A-BE23-FF92-A7D4-708263F76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problem?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ED90A3-B83A-9736-95B2-F207245751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548673"/>
            <a:ext cx="11404600" cy="3354253"/>
          </a:xfrm>
        </p:spPr>
        <p:txBody>
          <a:bodyPr/>
          <a:lstStyle/>
          <a:p>
            <a:r>
              <a:rPr lang="en-US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void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printVec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1" dirty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1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 dirty="0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1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1" dirty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1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b="1" dirty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1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 dirty="0">
                <a:solidFill>
                  <a:srgbClr val="E3620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for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 dirty="0" err="1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05CC5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  <a:r>
              <a:rPr lang="en-US" b="0" dirty="0" err="1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 dirty="0" err="1">
                <a:solidFill>
                  <a:srgbClr val="E3620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b="1" dirty="0" err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</a:t>
            </a:r>
            <a:r>
              <a:rPr lang="en-US" b="1" dirty="0" err="1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</a:t>
            </a:r>
            <a:r>
              <a:rPr lang="en-US" b="1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++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std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cout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 dirty="0" err="1">
                <a:solidFill>
                  <a:srgbClr val="E3620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b="1" dirty="0" err="1">
                <a:solidFill>
                  <a:srgbClr val="24292E"/>
                </a:solidFill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</a:t>
            </a:r>
            <a:r>
              <a:rPr lang="en-US" b="1" dirty="0" err="1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b="1" dirty="0">
                <a:solidFill>
                  <a:srgbClr val="24292E"/>
                </a:solidFill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1" dirty="0" err="1">
                <a:solidFill>
                  <a:srgbClr val="24292E"/>
                </a:solidFill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1" dirty="0">
                <a:solidFill>
                  <a:srgbClr val="24292E"/>
                </a:solidFill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32F62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 "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}</a:t>
            </a:r>
          </a:p>
          <a:p>
            <a:r>
              <a:rPr lang="en-US" b="0" dirty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std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cout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endl</a:t>
            </a:r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EC0E52-D7E0-4C89-7A1F-A75848E1ADCC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93700" y="5053874"/>
            <a:ext cx="11404600" cy="1524726"/>
          </a:xfrm>
        </p:spPr>
        <p:txBody>
          <a:bodyPr>
            <a:normAutofit/>
          </a:bodyPr>
          <a:lstStyle/>
          <a:p>
            <a:r>
              <a:rPr lang="en-US" dirty="0"/>
              <a:t>By passing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dirty="0"/>
              <a:t> as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/>
              <a:t>, we promise not to modify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</a:p>
          <a:p>
            <a:r>
              <a:rPr lang="en-US" dirty="0"/>
              <a:t>Compiler cannot be sure if methods like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</a:t>
            </a:r>
            <a:r>
              <a:rPr lang="en-US" dirty="0"/>
              <a:t> and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dirty="0"/>
              <a:t> will modify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</a:p>
          <a:p>
            <a:r>
              <a:rPr lang="en-US" dirty="0"/>
              <a:t>Remember, member functions </a:t>
            </a:r>
            <a:r>
              <a:rPr lang="en-US" i="1" dirty="0"/>
              <a:t>can</a:t>
            </a:r>
            <a:r>
              <a:rPr lang="en-US" dirty="0"/>
              <a:t> access member variables</a:t>
            </a:r>
          </a:p>
        </p:txBody>
      </p:sp>
    </p:spTree>
    <p:extLst>
      <p:ext uri="{BB962C8B-B14F-4D97-AF65-F5344CB8AC3E}">
        <p14:creationId xmlns:p14="http://schemas.microsoft.com/office/powerpoint/2010/main" val="1789213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62EB0-92E8-BDD4-188B-5CAD6997C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AD2FF-833A-4D76-36D2-8EEB497EC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fix it?</a:t>
            </a:r>
            <a:endParaRPr lang="en-US" dirty="0">
              <a:solidFill>
                <a:srgbClr val="6F42C1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240FBD8-1109-1C6D-BA77-183B83188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 </a:t>
            </a:r>
          </a:p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 </a:t>
            </a:r>
            <a:r>
              <a:rPr lang="en-US" b="1" dirty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bool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empty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 </a:t>
            </a:r>
            <a:r>
              <a:rPr lang="en-US" b="1" dirty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b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operator[]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 </a:t>
            </a:r>
          </a:p>
          <a:p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T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  <a:r>
              <a:rPr lang="en-US" b="1" dirty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void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push_back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 err="1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7E6D9A7-4600-CDEA-44FF-D69B96913269}"/>
              </a:ext>
            </a:extLst>
          </p:cNvPr>
          <p:cNvSpPr txBox="1">
            <a:spLocks/>
          </p:cNvSpPr>
          <p:nvPr/>
        </p:nvSpPr>
        <p:spPr>
          <a:xfrm>
            <a:off x="6866851" y="382772"/>
            <a:ext cx="5121949" cy="538302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800" b="1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method:</a:t>
            </a:r>
          </a:p>
          <a:p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”Dear compiler,</a:t>
            </a:r>
          </a:p>
          <a:p>
            <a:endParaRPr lang="en-US" sz="2800" dirty="0"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 promise not to modify this object inside of this method. Please hold me accountable.</a:t>
            </a:r>
          </a:p>
          <a:p>
            <a:endParaRPr lang="en-US" sz="2800" dirty="0"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Love, Jacob 😘”</a:t>
            </a:r>
          </a:p>
        </p:txBody>
      </p:sp>
      <p:cxnSp>
        <p:nvCxnSpPr>
          <p:cNvPr id="9" name="Straight Arrow Connector 4">
            <a:extLst>
              <a:ext uri="{FF2B5EF4-FFF2-40B4-BE49-F238E27FC236}">
                <a16:creationId xmlns:a16="http://schemas.microsoft.com/office/drawing/2014/main" id="{DADC65D6-CCE1-DF88-C691-663B303BE226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5130800" y="3074286"/>
            <a:ext cx="1736051" cy="134823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4">
            <a:extLst>
              <a:ext uri="{FF2B5EF4-FFF2-40B4-BE49-F238E27FC236}">
                <a16:creationId xmlns:a16="http://schemas.microsoft.com/office/drawing/2014/main" id="{AE31B1BA-B0F2-44CD-69C0-F76675245AB0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4902200" y="3074286"/>
            <a:ext cx="1964651" cy="583677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4">
            <a:extLst>
              <a:ext uri="{FF2B5EF4-FFF2-40B4-BE49-F238E27FC236}">
                <a16:creationId xmlns:a16="http://schemas.microsoft.com/office/drawing/2014/main" id="{9A7E90DE-ED69-3515-E96B-418BDD42B62D}"/>
              </a:ext>
            </a:extLst>
          </p:cNvPr>
          <p:cNvCxnSpPr>
            <a:cxnSpLocks/>
            <a:stCxn id="8" idx="1"/>
          </p:cNvCxnSpPr>
          <p:nvPr/>
        </p:nvCxnSpPr>
        <p:spPr>
          <a:xfrm rot="10800000" flipV="1">
            <a:off x="5791205" y="3074286"/>
            <a:ext cx="1075647" cy="1548512"/>
          </a:xfrm>
          <a:prstGeom prst="curvedConnector2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0215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172DD-5CF5-2DB4-228E-75554FA08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D21E4-CEC4-2A78-1290-5398E73F8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fix it (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cpp</a:t>
            </a:r>
            <a:r>
              <a:rPr lang="en-US" dirty="0"/>
              <a:t> file)?</a:t>
            </a:r>
            <a:endParaRPr lang="en-US" dirty="0">
              <a:solidFill>
                <a:srgbClr val="6F42C1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CC579C8-E5BE-0207-9B96-922CA6B858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&gt;::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 </a:t>
            </a:r>
            <a:r>
              <a:rPr lang="en-US" b="1" dirty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logical_size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Other methods...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BAB14AB-1C5C-5A06-D715-957C162EE27B}"/>
              </a:ext>
            </a:extLst>
          </p:cNvPr>
          <p:cNvSpPr txBox="1">
            <a:spLocks/>
          </p:cNvSpPr>
          <p:nvPr/>
        </p:nvSpPr>
        <p:spPr>
          <a:xfrm>
            <a:off x="6096000" y="3429000"/>
            <a:ext cx="5121949" cy="229906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Make sure to also add </a:t>
            </a:r>
            <a:r>
              <a:rPr lang="en-US" sz="2800" b="1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to the implementation, or the compiler will scream</a:t>
            </a:r>
          </a:p>
        </p:txBody>
      </p:sp>
    </p:spTree>
    <p:extLst>
      <p:ext uri="{BB962C8B-B14F-4D97-AF65-F5344CB8AC3E}">
        <p14:creationId xmlns:p14="http://schemas.microsoft.com/office/powerpoint/2010/main" val="1324293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1A314-5625-7513-1F12-9BB0F3558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B7720-0C39-492B-1D9B-E10B60CAD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fix it (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cpp</a:t>
            </a:r>
            <a:r>
              <a:rPr lang="en-US" dirty="0"/>
              <a:t> file)?</a:t>
            </a:r>
            <a:endParaRPr lang="en-US" dirty="0">
              <a:solidFill>
                <a:srgbClr val="6F42C1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C912A69-AD88-0ED4-3135-34C19EE308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&gt;::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this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-&gt;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logical_size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106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// 😈😈😈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logical_size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endParaRPr lang="en-US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</a:t>
            </a:r>
            <a:r>
              <a:rPr lang="en-US" b="1" dirty="0">
                <a:solidFill>
                  <a:schemeClr val="accent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error: 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cannot assign to non-static data member</a:t>
            </a:r>
          </a:p>
          <a:p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within const member function 'size'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806A9-F3BB-1DFE-39F9-0CF1A8B98453}"/>
              </a:ext>
            </a:extLst>
          </p:cNvPr>
          <p:cNvSpPr txBox="1">
            <a:spLocks/>
          </p:cNvSpPr>
          <p:nvPr/>
        </p:nvSpPr>
        <p:spPr>
          <a:xfrm>
            <a:off x="6096000" y="3429000"/>
            <a:ext cx="5121949" cy="229906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Inside a </a:t>
            </a:r>
            <a:r>
              <a:rPr lang="en-US" sz="2800" b="1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method, </a:t>
            </a:r>
            <a:r>
              <a:rPr lang="en-US" sz="2800" b="1" dirty="0">
                <a:solidFill>
                  <a:srgbClr val="6F42C1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</a:t>
            </a:r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has type </a:t>
            </a:r>
            <a:r>
              <a:rPr lang="en-US" sz="2800" b="1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 Vector&lt;T&gt;*</a:t>
            </a:r>
          </a:p>
        </p:txBody>
      </p:sp>
    </p:spTree>
    <p:extLst>
      <p:ext uri="{BB962C8B-B14F-4D97-AF65-F5344CB8AC3E}">
        <p14:creationId xmlns:p14="http://schemas.microsoft.com/office/powerpoint/2010/main" val="2614793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15CFD-C6BC-443D-026A-BD71E7E1D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21161B0-C647-E47F-094C-385F92FAC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</a:t>
            </a:r>
            <a:r>
              <a:rPr lang="en-US" dirty="0"/>
              <a:t>?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AC8E672-DA54-833A-054F-19E4CF6FBDE9}"/>
              </a:ext>
            </a:extLst>
          </p:cNvPr>
          <p:cNvSpPr txBox="1">
            <a:spLocks/>
          </p:cNvSpPr>
          <p:nvPr/>
        </p:nvSpPr>
        <p:spPr>
          <a:xfrm>
            <a:off x="680484" y="1765004"/>
            <a:ext cx="5187119" cy="269052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void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Point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setX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</a:p>
          <a:p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{</a:t>
            </a:r>
          </a:p>
          <a:p>
            <a:r>
              <a:rPr lang="en-US" dirty="0">
                <a:solidFill>
                  <a:srgbClr val="005CC5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this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-&gt;x 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A2F279E-B7D0-4BBE-9239-8AF0432A6FDC}"/>
              </a:ext>
            </a:extLst>
          </p:cNvPr>
          <p:cNvSpPr txBox="1">
            <a:spLocks/>
          </p:cNvSpPr>
          <p:nvPr/>
        </p:nvSpPr>
        <p:spPr>
          <a:xfrm>
            <a:off x="680484" y="5077030"/>
            <a:ext cx="2291674" cy="98011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Point* </a:t>
            </a:r>
            <a:r>
              <a:rPr lang="en-US" sz="2000" dirty="0">
                <a:solidFill>
                  <a:srgbClr val="005CC5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</a:t>
            </a:r>
          </a:p>
        </p:txBody>
      </p:sp>
      <p:cxnSp>
        <p:nvCxnSpPr>
          <p:cNvPr id="6" name="Straight Arrow Connector 4">
            <a:extLst>
              <a:ext uri="{FF2B5EF4-FFF2-40B4-BE49-F238E27FC236}">
                <a16:creationId xmlns:a16="http://schemas.microsoft.com/office/drawing/2014/main" id="{1F1301F2-689D-90C9-9E8B-1BEBAC04FFFC}"/>
              </a:ext>
            </a:extLst>
          </p:cNvPr>
          <p:cNvCxnSpPr>
            <a:cxnSpLocks/>
          </p:cNvCxnSpPr>
          <p:nvPr/>
        </p:nvCxnSpPr>
        <p:spPr>
          <a:xfrm flipV="1">
            <a:off x="1749609" y="3721394"/>
            <a:ext cx="0" cy="1355636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123D5D2-7753-1482-BE7E-5EDEADAF04DB}"/>
              </a:ext>
            </a:extLst>
          </p:cNvPr>
          <p:cNvSpPr txBox="1">
            <a:spLocks/>
          </p:cNvSpPr>
          <p:nvPr/>
        </p:nvSpPr>
        <p:spPr>
          <a:xfrm>
            <a:off x="6324398" y="1765004"/>
            <a:ext cx="5187118" cy="269052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void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Point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getX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</a:p>
          <a:p>
            <a:r>
              <a:rPr lang="en-US" b="1" dirty="0">
                <a:solidFill>
                  <a:srgbClr val="6F42C1"/>
                </a:solidFill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</a:p>
          <a:p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{</a:t>
            </a:r>
          </a:p>
          <a:p>
            <a:r>
              <a:rPr lang="en-US" dirty="0">
                <a:solidFill>
                  <a:srgbClr val="005CC5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 dirty="0">
                <a:solidFill>
                  <a:srgbClr val="005CC5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this-&gt;x;</a:t>
            </a:r>
            <a:endParaRPr lang="en-US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3B49DF4-4CE0-1B6E-F2F1-F845BAE61535}"/>
              </a:ext>
            </a:extLst>
          </p:cNvPr>
          <p:cNvSpPr txBox="1">
            <a:spLocks/>
          </p:cNvSpPr>
          <p:nvPr/>
        </p:nvSpPr>
        <p:spPr>
          <a:xfrm>
            <a:off x="6324397" y="5077030"/>
            <a:ext cx="3308701" cy="98011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rgbClr val="6F42C1"/>
                </a:solidFill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000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Point* </a:t>
            </a:r>
            <a:r>
              <a:rPr lang="en-US" sz="2000" dirty="0">
                <a:solidFill>
                  <a:srgbClr val="005CC5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</a:t>
            </a:r>
          </a:p>
        </p:txBody>
      </p:sp>
      <p:cxnSp>
        <p:nvCxnSpPr>
          <p:cNvPr id="9" name="Straight Arrow Connector 4">
            <a:extLst>
              <a:ext uri="{FF2B5EF4-FFF2-40B4-BE49-F238E27FC236}">
                <a16:creationId xmlns:a16="http://schemas.microsoft.com/office/drawing/2014/main" id="{58B4A307-9911-8A57-37DC-5E9B62C9D678}"/>
              </a:ext>
            </a:extLst>
          </p:cNvPr>
          <p:cNvCxnSpPr>
            <a:cxnSpLocks/>
          </p:cNvCxnSpPr>
          <p:nvPr/>
        </p:nvCxnSpPr>
        <p:spPr>
          <a:xfrm flipV="1">
            <a:off x="8813173" y="3912781"/>
            <a:ext cx="0" cy="1164249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3543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47A2CAE-7DED-E308-8895-B20F21F53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Objects marked as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/>
              <a:t> can only make use of the </a:t>
            </a:r>
            <a:r>
              <a:rPr lang="en-US" b="1" dirty="0">
                <a:solidFill>
                  <a:srgbClr val="C00000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1" dirty="0"/>
              <a:t> interface</a:t>
            </a:r>
          </a:p>
          <a:p>
            <a:r>
              <a:rPr lang="en-US" dirty="0"/>
              <a:t>The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/>
              <a:t> interface are the functions that are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/>
              <a:t> in an object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6A29F1D-56D8-C1E4-E9C4-203ED8E7E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>
                <a:solidFill>
                  <a:srgbClr val="D73A48"/>
                </a:solidFill>
              </a:rPr>
              <a:t>const</a:t>
            </a:r>
            <a:r>
              <a:rPr lang="en-US" dirty="0"/>
              <a:t> interface</a:t>
            </a:r>
          </a:p>
        </p:txBody>
      </p:sp>
    </p:spTree>
    <p:extLst>
      <p:ext uri="{BB962C8B-B14F-4D97-AF65-F5344CB8AC3E}">
        <p14:creationId xmlns:p14="http://schemas.microsoft.com/office/powerpoint/2010/main" val="3033163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08364A-09CC-9CC6-2DAE-06AD4CDAC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>
                <a:solidFill>
                  <a:srgbClr val="D73A48"/>
                </a:solidFill>
              </a:rPr>
              <a:t>const</a:t>
            </a:r>
            <a:r>
              <a:rPr lang="en-US" dirty="0"/>
              <a:t> interface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4F016B4-28F6-B4C7-0495-86B07A389A1A}"/>
              </a:ext>
            </a:extLst>
          </p:cNvPr>
          <p:cNvGrpSpPr/>
          <p:nvPr/>
        </p:nvGrpSpPr>
        <p:grpSpPr>
          <a:xfrm>
            <a:off x="393700" y="1499325"/>
            <a:ext cx="5537200" cy="5130075"/>
            <a:chOff x="431800" y="1423125"/>
            <a:chExt cx="5537200" cy="5130075"/>
          </a:xfrm>
        </p:grpSpPr>
        <p:sp>
          <p:nvSpPr>
            <p:cNvPr id="4" name="Content Placeholder 2">
              <a:extLst>
                <a:ext uri="{FF2B5EF4-FFF2-40B4-BE49-F238E27FC236}">
                  <a16:creationId xmlns:a16="http://schemas.microsoft.com/office/drawing/2014/main" id="{4BC1E833-C3E6-DAAE-034D-423A8FEEE46F}"/>
                </a:ext>
              </a:extLst>
            </p:cNvPr>
            <p:cNvSpPr txBox="1">
              <a:spLocks/>
            </p:cNvSpPr>
            <p:nvPr/>
          </p:nvSpPr>
          <p:spPr>
            <a:xfrm>
              <a:off x="431800" y="1423125"/>
              <a:ext cx="5537200" cy="452047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lIns="228600" tIns="228600" rIns="228600" bIns="228600" rtlCol="0" anchor="ctr">
              <a:noAutofit/>
            </a:bodyPr>
            <a:lstStyle>
              <a:lvl1pPr marL="12700" indent="0" algn="l" defTabSz="457200" rtl="0" eaLnBrk="1" latinLnBrk="0" hangingPunct="1">
                <a:lnSpc>
                  <a:spcPct val="9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None/>
                <a:tabLst/>
                <a:defRPr sz="2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803275" indent="-338138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tabLst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70000" indent="-350838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22438" indent="-3492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76463" indent="-3365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000" dirty="0">
                  <a:solidFill>
                    <a:srgbClr val="D73A49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template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&lt;</a:t>
              </a:r>
              <a:r>
                <a:rPr lang="en-US" sz="2000" dirty="0">
                  <a:solidFill>
                    <a:srgbClr val="D73A49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class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 dirty="0">
                  <a:solidFill>
                    <a:srgbClr val="6F42C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T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&gt; </a:t>
              </a:r>
            </a:p>
            <a:p>
              <a:r>
                <a:rPr lang="en-US" sz="2000" dirty="0">
                  <a:solidFill>
                    <a:srgbClr val="D73A49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class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 dirty="0">
                  <a:solidFill>
                    <a:srgbClr val="6F42C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Vector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{</a:t>
              </a:r>
            </a:p>
            <a:p>
              <a:r>
                <a:rPr lang="en-US" sz="2000" dirty="0">
                  <a:solidFill>
                    <a:srgbClr val="D73A49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public:</a:t>
              </a:r>
              <a:endParaRPr lang="en-US" sz="20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endParaRPr>
            </a:p>
            <a:p>
              <a:r>
                <a:rPr lang="en-US" sz="2000" dirty="0">
                  <a:solidFill>
                    <a:srgbClr val="6F42C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	</a:t>
              </a:r>
              <a:r>
                <a:rPr lang="en-US" sz="2000" dirty="0" err="1">
                  <a:solidFill>
                    <a:srgbClr val="6F42C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size_t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 dirty="0">
                  <a:solidFill>
                    <a:srgbClr val="6F42C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size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() </a:t>
              </a:r>
              <a:r>
                <a:rPr lang="en-US" sz="2000" dirty="0">
                  <a:solidFill>
                    <a:srgbClr val="D73A49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const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;</a:t>
              </a:r>
            </a:p>
            <a:p>
              <a:r>
                <a:rPr lang="en-US" sz="2000" dirty="0">
                  <a:solidFill>
                    <a:srgbClr val="D73A49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	bool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 dirty="0">
                  <a:solidFill>
                    <a:srgbClr val="6F42C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empty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() </a:t>
              </a:r>
              <a:r>
                <a:rPr lang="en-US" sz="2000" dirty="0">
                  <a:solidFill>
                    <a:srgbClr val="D73A49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const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;</a:t>
              </a:r>
            </a:p>
            <a:p>
              <a:r>
                <a:rPr lang="en-US" sz="2000" dirty="0">
                  <a:solidFill>
                    <a:srgbClr val="D73A49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	void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 dirty="0" err="1">
                  <a:solidFill>
                    <a:srgbClr val="6F42C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push_back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(</a:t>
              </a:r>
              <a:r>
                <a:rPr lang="en-US" sz="2000" dirty="0">
                  <a:solidFill>
                    <a:srgbClr val="D73A49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const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 dirty="0">
                  <a:solidFill>
                    <a:srgbClr val="6F42C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T</a:t>
              </a:r>
              <a:r>
                <a:rPr lang="en-US" sz="2000" dirty="0">
                  <a:solidFill>
                    <a:srgbClr val="D73A49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&amp;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 dirty="0" err="1">
                  <a:solidFill>
                    <a:srgbClr val="E36209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elem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);</a:t>
              </a:r>
            </a:p>
            <a:p>
              <a:r>
                <a:rPr lang="en-US" sz="2000" dirty="0">
                  <a:solidFill>
                    <a:srgbClr val="D73A49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private:</a:t>
              </a:r>
              <a:endParaRPr lang="en-US" sz="20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endParaRPr>
            </a:p>
            <a:p>
              <a:r>
                <a:rPr lang="en-US" sz="2000" dirty="0">
                  <a:solidFill>
                    <a:srgbClr val="6F42C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	</a:t>
              </a:r>
              <a:r>
                <a:rPr lang="en-US" sz="2000" dirty="0" err="1">
                  <a:solidFill>
                    <a:srgbClr val="6F42C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size_t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 dirty="0" err="1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logical_size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;</a:t>
              </a:r>
            </a:p>
            <a:p>
              <a:r>
                <a:rPr lang="en-US" sz="2000" dirty="0">
                  <a:solidFill>
                    <a:srgbClr val="6F42C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	T</a:t>
              </a:r>
              <a:r>
                <a:rPr lang="en-US" sz="2000" dirty="0">
                  <a:solidFill>
                    <a:srgbClr val="D73A49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*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 dirty="0" err="1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elems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;</a:t>
              </a:r>
            </a:p>
            <a:p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};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7CE2E45-E0EC-1674-8B57-0CC37EC39CE5}"/>
                </a:ext>
              </a:extLst>
            </p:cNvPr>
            <p:cNvSpPr txBox="1"/>
            <p:nvPr/>
          </p:nvSpPr>
          <p:spPr>
            <a:xfrm>
              <a:off x="431800" y="6091535"/>
              <a:ext cx="5537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0" dirty="0">
                  <a:solidFill>
                    <a:srgbClr val="6F42C1"/>
                  </a:solidFill>
                  <a:effectLst/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Vector</a:t>
              </a:r>
              <a:r>
                <a:rPr lang="en-US" sz="2400" b="0" dirty="0">
                  <a:solidFill>
                    <a:srgbClr val="24292E"/>
                  </a:solidFill>
                  <a:effectLst/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&lt;</a:t>
              </a:r>
              <a:r>
                <a:rPr lang="en-US" sz="2400" b="0" dirty="0">
                  <a:solidFill>
                    <a:srgbClr val="6F42C1"/>
                  </a:solidFill>
                  <a:effectLst/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T</a:t>
              </a:r>
              <a:r>
                <a:rPr lang="en-US" sz="2400" b="0" dirty="0">
                  <a:solidFill>
                    <a:srgbClr val="24292E"/>
                  </a:solidFill>
                  <a:effectLst/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&gt;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B1BE181-FD5D-EC8A-5570-F07382A8BE1D}"/>
              </a:ext>
            </a:extLst>
          </p:cNvPr>
          <p:cNvGrpSpPr/>
          <p:nvPr/>
        </p:nvGrpSpPr>
        <p:grpSpPr>
          <a:xfrm>
            <a:off x="6261102" y="1499325"/>
            <a:ext cx="5537200" cy="5130075"/>
            <a:chOff x="431800" y="1423125"/>
            <a:chExt cx="5537200" cy="5130075"/>
          </a:xfrm>
        </p:grpSpPr>
        <p:sp>
          <p:nvSpPr>
            <p:cNvPr id="13" name="Content Placeholder 2">
              <a:extLst>
                <a:ext uri="{FF2B5EF4-FFF2-40B4-BE49-F238E27FC236}">
                  <a16:creationId xmlns:a16="http://schemas.microsoft.com/office/drawing/2014/main" id="{68286B9D-E33B-02BB-2AAD-3FB41B372595}"/>
                </a:ext>
              </a:extLst>
            </p:cNvPr>
            <p:cNvSpPr txBox="1">
              <a:spLocks/>
            </p:cNvSpPr>
            <p:nvPr/>
          </p:nvSpPr>
          <p:spPr>
            <a:xfrm>
              <a:off x="431800" y="1423125"/>
              <a:ext cx="5537200" cy="452047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lIns="228600" tIns="228600" rIns="228600" bIns="228600" rtlCol="0" anchor="ctr">
              <a:noAutofit/>
            </a:bodyPr>
            <a:lstStyle>
              <a:lvl1pPr marL="12700" indent="0" algn="l" defTabSz="457200" rtl="0" eaLnBrk="1" latinLnBrk="0" hangingPunct="1">
                <a:lnSpc>
                  <a:spcPct val="9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None/>
                <a:tabLst/>
                <a:defRPr sz="2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803275" indent="-338138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tabLst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70000" indent="-350838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22438" indent="-3492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76463" indent="-3365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000" dirty="0">
                  <a:solidFill>
                    <a:srgbClr val="D73A49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template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&lt;</a:t>
              </a:r>
              <a:r>
                <a:rPr lang="en-US" sz="2000" dirty="0">
                  <a:solidFill>
                    <a:srgbClr val="D73A49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class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 dirty="0">
                  <a:solidFill>
                    <a:srgbClr val="6F42C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T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&gt; </a:t>
              </a:r>
            </a:p>
            <a:p>
              <a:r>
                <a:rPr lang="en-US" sz="2000" dirty="0">
                  <a:solidFill>
                    <a:srgbClr val="D73A49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class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 dirty="0">
                  <a:solidFill>
                    <a:srgbClr val="6F42C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Vector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{</a:t>
              </a:r>
            </a:p>
            <a:p>
              <a:r>
                <a:rPr lang="en-US" sz="2000" dirty="0">
                  <a:solidFill>
                    <a:srgbClr val="D73A49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public:</a:t>
              </a:r>
              <a:endParaRPr lang="en-US" sz="20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endParaRPr>
            </a:p>
            <a:p>
              <a:r>
                <a:rPr lang="en-US" sz="2000" dirty="0">
                  <a:solidFill>
                    <a:srgbClr val="6F42C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	</a:t>
              </a:r>
              <a:r>
                <a:rPr lang="en-US" sz="2000" dirty="0" err="1">
                  <a:solidFill>
                    <a:srgbClr val="6F42C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size_t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 dirty="0">
                  <a:solidFill>
                    <a:srgbClr val="6F42C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size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() </a:t>
              </a:r>
              <a:r>
                <a:rPr lang="en-US" sz="2000" dirty="0">
                  <a:solidFill>
                    <a:srgbClr val="D73A49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const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;</a:t>
              </a:r>
            </a:p>
            <a:p>
              <a:r>
                <a:rPr lang="en-US" sz="2000" dirty="0">
                  <a:solidFill>
                    <a:srgbClr val="D73A49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	bool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 dirty="0">
                  <a:solidFill>
                    <a:srgbClr val="6F42C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empty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() </a:t>
              </a:r>
              <a:r>
                <a:rPr lang="en-US" sz="2000" dirty="0">
                  <a:solidFill>
                    <a:srgbClr val="D73A49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const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;</a:t>
              </a:r>
            </a:p>
            <a:p>
              <a:r>
                <a:rPr lang="en-US" sz="2000" dirty="0">
                  <a:solidFill>
                    <a:srgbClr val="D73A49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	</a:t>
              </a:r>
              <a:r>
                <a:rPr lang="en-US" sz="2000" dirty="0">
                  <a:solidFill>
                    <a:srgbClr val="D73A49">
                      <a:alpha val="25000"/>
                    </a:srgbClr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void</a:t>
              </a:r>
              <a:r>
                <a:rPr lang="en-US" sz="2000" dirty="0">
                  <a:solidFill>
                    <a:srgbClr val="24292E">
                      <a:alpha val="25000"/>
                    </a:srgbClr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 dirty="0" err="1">
                  <a:solidFill>
                    <a:srgbClr val="6F42C1">
                      <a:alpha val="25000"/>
                    </a:srgbClr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push_back</a:t>
              </a:r>
              <a:r>
                <a:rPr lang="en-US" sz="2000" dirty="0">
                  <a:solidFill>
                    <a:srgbClr val="24292E">
                      <a:alpha val="25000"/>
                    </a:srgbClr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(</a:t>
              </a:r>
              <a:r>
                <a:rPr lang="en-US" sz="2000" dirty="0">
                  <a:solidFill>
                    <a:srgbClr val="D73A49">
                      <a:alpha val="25000"/>
                    </a:srgbClr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const</a:t>
              </a:r>
              <a:r>
                <a:rPr lang="en-US" sz="2000" dirty="0">
                  <a:solidFill>
                    <a:srgbClr val="24292E">
                      <a:alpha val="25000"/>
                    </a:srgbClr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 dirty="0">
                  <a:solidFill>
                    <a:srgbClr val="6F42C1">
                      <a:alpha val="25000"/>
                    </a:srgbClr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T</a:t>
              </a:r>
              <a:r>
                <a:rPr lang="en-US" sz="2000" dirty="0">
                  <a:solidFill>
                    <a:srgbClr val="D73A49">
                      <a:alpha val="25000"/>
                    </a:srgbClr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&amp;</a:t>
              </a:r>
              <a:r>
                <a:rPr lang="en-US" sz="2000" dirty="0">
                  <a:solidFill>
                    <a:srgbClr val="24292E">
                      <a:alpha val="25000"/>
                    </a:srgbClr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 dirty="0" err="1">
                  <a:solidFill>
                    <a:srgbClr val="E36209">
                      <a:alpha val="25000"/>
                    </a:srgbClr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elem</a:t>
              </a:r>
              <a:r>
                <a:rPr lang="en-US" sz="2000" dirty="0">
                  <a:solidFill>
                    <a:srgbClr val="24292E">
                      <a:alpha val="25000"/>
                    </a:srgbClr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);</a:t>
              </a:r>
            </a:p>
            <a:p>
              <a:r>
                <a:rPr lang="en-US" sz="2000" dirty="0">
                  <a:solidFill>
                    <a:srgbClr val="D73A49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private:</a:t>
              </a:r>
              <a:endParaRPr lang="en-US" sz="20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endParaRPr>
            </a:p>
            <a:p>
              <a:r>
                <a:rPr lang="en-US" sz="2000" dirty="0">
                  <a:solidFill>
                    <a:srgbClr val="6F42C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	</a:t>
              </a:r>
              <a:r>
                <a:rPr lang="en-US" sz="2000" b="1" i="1" dirty="0">
                  <a:solidFill>
                    <a:srgbClr val="D73A49"/>
                  </a:solidFill>
                  <a:effectLst/>
                  <a:highlight>
                    <a:srgbClr val="FFFF00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const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 dirty="0" err="1">
                  <a:solidFill>
                    <a:srgbClr val="6F42C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size_t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 dirty="0" err="1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logical_size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;</a:t>
              </a:r>
            </a:p>
            <a:p>
              <a:r>
                <a:rPr lang="en-US" sz="2000" dirty="0">
                  <a:solidFill>
                    <a:srgbClr val="6F42C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	</a:t>
              </a:r>
              <a:r>
                <a:rPr lang="en-US" sz="2000" b="1" i="1" dirty="0">
                  <a:solidFill>
                    <a:srgbClr val="D73A49"/>
                  </a:solidFill>
                  <a:effectLst/>
                  <a:highlight>
                    <a:srgbClr val="FFFF00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const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 dirty="0">
                  <a:solidFill>
                    <a:srgbClr val="6F42C1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T</a:t>
              </a:r>
              <a:r>
                <a:rPr lang="en-US" sz="2000" dirty="0">
                  <a:solidFill>
                    <a:srgbClr val="D73A49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*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 dirty="0" err="1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elems</a:t>
              </a:r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;</a:t>
              </a:r>
            </a:p>
            <a:p>
              <a:r>
                <a:rPr lang="en-US" sz="2000" dirty="0">
                  <a:solidFill>
                    <a:srgbClr val="24292E"/>
                  </a:solidFill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};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4D224D4-22FB-CD97-D00D-8B9BD8D96BD7}"/>
                </a:ext>
              </a:extLst>
            </p:cNvPr>
            <p:cNvSpPr txBox="1"/>
            <p:nvPr/>
          </p:nvSpPr>
          <p:spPr>
            <a:xfrm>
              <a:off x="431800" y="6091535"/>
              <a:ext cx="5537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0" dirty="0">
                  <a:solidFill>
                    <a:srgbClr val="D73A49"/>
                  </a:solidFill>
                  <a:effectLst/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const</a:t>
              </a:r>
              <a:r>
                <a:rPr lang="en-US" sz="2400" b="0" dirty="0">
                  <a:solidFill>
                    <a:srgbClr val="24292E"/>
                  </a:solidFill>
                  <a:effectLst/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400" b="0" dirty="0">
                  <a:solidFill>
                    <a:srgbClr val="6F42C1"/>
                  </a:solidFill>
                  <a:effectLst/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Vector</a:t>
              </a:r>
              <a:r>
                <a:rPr lang="en-US" sz="2400" b="0" dirty="0">
                  <a:solidFill>
                    <a:srgbClr val="24292E"/>
                  </a:solidFill>
                  <a:effectLst/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&lt;</a:t>
              </a:r>
              <a:r>
                <a:rPr lang="en-US" sz="2400" b="0" dirty="0">
                  <a:solidFill>
                    <a:srgbClr val="6F42C1"/>
                  </a:solidFill>
                  <a:effectLst/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T</a:t>
              </a:r>
              <a:r>
                <a:rPr lang="en-US" sz="2400" b="0" dirty="0">
                  <a:solidFill>
                    <a:srgbClr val="24292E"/>
                  </a:solidFill>
                  <a:effectLst/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0561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332596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1AEDD-02D8-C8F0-B6F1-E7C74F54B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FBD41-33D6-2C01-8C7B-FDD28884F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our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dirty="0"/>
              <a:t> class!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B9A9B-3C8F-5E18-E659-3094C416FD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void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printVec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for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 dirty="0" err="1">
                <a:solidFill>
                  <a:srgbClr val="E3620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b="1" dirty="0" err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</a:t>
            </a:r>
            <a:r>
              <a:rPr lang="en-US" b="1" dirty="0" err="1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</a:t>
            </a:r>
            <a:r>
              <a:rPr lang="en-US" b="1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++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cout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 dirty="0" err="1">
                <a:solidFill>
                  <a:srgbClr val="E3620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b="1" dirty="0" err="1">
                <a:solidFill>
                  <a:srgbClr val="24292E"/>
                </a:solidFill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</a:t>
            </a:r>
            <a:r>
              <a:rPr lang="en-US" b="1" dirty="0" err="1">
                <a:solidFill>
                  <a:srgbClr val="6F42C1"/>
                </a:solidFill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b="1" dirty="0">
                <a:solidFill>
                  <a:srgbClr val="24292E"/>
                </a:solidFill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1" dirty="0" err="1">
                <a:solidFill>
                  <a:srgbClr val="24292E"/>
                </a:solidFill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1" dirty="0">
                <a:solidFill>
                  <a:srgbClr val="24292E"/>
                </a:solidFill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 "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}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cout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endl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endParaRPr lang="en-US" dirty="0"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D8DFB98-5522-0367-C8DE-497C42EFFE18}"/>
              </a:ext>
            </a:extLst>
          </p:cNvPr>
          <p:cNvSpPr txBox="1">
            <a:spLocks/>
          </p:cNvSpPr>
          <p:nvPr/>
        </p:nvSpPr>
        <p:spPr>
          <a:xfrm>
            <a:off x="3636335" y="4613647"/>
            <a:ext cx="7535924" cy="140587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Compiler:</a:t>
            </a:r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“🦁 </a:t>
            </a:r>
            <a:r>
              <a:rPr lang="en-US" sz="2800" b="1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 Vector&lt;int&gt; </a:t>
            </a:r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has no </a:t>
            </a:r>
            <a:r>
              <a:rPr lang="en-US" sz="2800" b="1" dirty="0">
                <a:solidFill>
                  <a:srgbClr val="7030A0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</a:t>
            </a:r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800" b="1" dirty="0">
                <a:solidFill>
                  <a:srgbClr val="7030A0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!!!”</a:t>
            </a:r>
          </a:p>
        </p:txBody>
      </p:sp>
    </p:spTree>
    <p:extLst>
      <p:ext uri="{BB962C8B-B14F-4D97-AF65-F5344CB8AC3E}">
        <p14:creationId xmlns:p14="http://schemas.microsoft.com/office/powerpoint/2010/main" val="276909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F0C6E-1EE9-E039-AA09-993CDC23B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E9065-C1D4-3946-8828-C10CAEC4B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our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dirty="0"/>
              <a:t> class!</a:t>
            </a:r>
            <a:endParaRPr lang="en-US" dirty="0">
              <a:solidFill>
                <a:srgbClr val="6F42C1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CA144C9-D6FD-65FE-7FF8-82F958FCA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 </a:t>
            </a:r>
          </a:p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bool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empty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();</a:t>
            </a:r>
          </a:p>
          <a:p>
            <a:b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operator[]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 </a:t>
            </a:r>
          </a:p>
          <a:p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T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void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push_back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 err="1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B1592FE-D8E9-AE38-124A-6B40D32FF8E5}"/>
              </a:ext>
            </a:extLst>
          </p:cNvPr>
          <p:cNvSpPr txBox="1">
            <a:spLocks/>
          </p:cNvSpPr>
          <p:nvPr/>
        </p:nvSpPr>
        <p:spPr>
          <a:xfrm>
            <a:off x="5465135" y="1892595"/>
            <a:ext cx="5962305" cy="153640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Let’s add </a:t>
            </a:r>
            <a:r>
              <a:rPr lang="en-US" sz="2800" b="1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to the methods which don’t modify </a:t>
            </a:r>
            <a:r>
              <a:rPr lang="en-US" sz="2800" b="1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</a:p>
        </p:txBody>
      </p:sp>
    </p:spTree>
    <p:extLst>
      <p:ext uri="{BB962C8B-B14F-4D97-AF65-F5344CB8AC3E}">
        <p14:creationId xmlns:p14="http://schemas.microsoft.com/office/powerpoint/2010/main" val="693329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0173A-A0D9-1DC9-40D2-914463B3B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CA030-6D97-F49A-8FE5-5E7C21477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our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dirty="0"/>
              <a:t> class!</a:t>
            </a:r>
            <a:endParaRPr lang="en-US" dirty="0">
              <a:solidFill>
                <a:srgbClr val="6F42C1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C1A361A-813B-629A-BC03-8462EE8F2F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 </a:t>
            </a:r>
          </a:p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 </a:t>
            </a:r>
            <a:r>
              <a:rPr lang="en-US" b="1" dirty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bool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empty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 </a:t>
            </a:r>
            <a:r>
              <a:rPr lang="en-US" b="1" dirty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b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operator[]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 </a:t>
            </a:r>
          </a:p>
          <a:p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T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  <a:r>
              <a:rPr lang="en-US" b="1" dirty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void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push_back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 err="1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46682A8-C755-132C-3E6C-C4A6CD763B8A}"/>
              </a:ext>
            </a:extLst>
          </p:cNvPr>
          <p:cNvSpPr txBox="1">
            <a:spLocks/>
          </p:cNvSpPr>
          <p:nvPr/>
        </p:nvSpPr>
        <p:spPr>
          <a:xfrm>
            <a:off x="5465135" y="1892595"/>
            <a:ext cx="5962305" cy="153640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Let’s add </a:t>
            </a:r>
            <a:r>
              <a:rPr lang="en-US" sz="2800" b="1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to the methods which don’t modify </a:t>
            </a:r>
            <a:r>
              <a:rPr lang="en-US" sz="2800" b="1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</a:p>
        </p:txBody>
      </p:sp>
    </p:spTree>
    <p:extLst>
      <p:ext uri="{BB962C8B-B14F-4D97-AF65-F5344CB8AC3E}">
        <p14:creationId xmlns:p14="http://schemas.microsoft.com/office/powerpoint/2010/main" val="320581088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2F25A-6F3A-A105-C5D5-FE0478325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E81D4-0972-0834-1DAF-74CE944B7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our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dirty="0"/>
              <a:t> class!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19DB1-A610-338B-AEA3-E0666711F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void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printVec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for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 dirty="0" err="1">
                <a:solidFill>
                  <a:srgbClr val="E3620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b="1" dirty="0" err="1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</a:t>
            </a:r>
            <a:r>
              <a:rPr lang="en-US" b="1" dirty="0" err="1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</a:t>
            </a:r>
            <a:r>
              <a:rPr lang="en-US" b="1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++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cout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1" dirty="0" err="1">
                <a:solidFill>
                  <a:srgbClr val="E3620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b="1" dirty="0" err="1">
                <a:solidFill>
                  <a:srgbClr val="24292E"/>
                </a:solidFill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</a:t>
            </a:r>
            <a:r>
              <a:rPr lang="en-US" b="1" dirty="0" err="1">
                <a:solidFill>
                  <a:srgbClr val="6F42C1"/>
                </a:solidFill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b="1" dirty="0">
                <a:solidFill>
                  <a:srgbClr val="24292E"/>
                </a:solidFill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1" dirty="0" err="1">
                <a:solidFill>
                  <a:srgbClr val="24292E"/>
                </a:solidFill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1" dirty="0">
                <a:solidFill>
                  <a:srgbClr val="24292E"/>
                </a:solidFill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 "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}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cout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endl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endParaRPr lang="en-US" dirty="0"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479327A-5C54-8825-0185-F79885C320A4}"/>
              </a:ext>
            </a:extLst>
          </p:cNvPr>
          <p:cNvSpPr txBox="1">
            <a:spLocks/>
          </p:cNvSpPr>
          <p:nvPr/>
        </p:nvSpPr>
        <p:spPr>
          <a:xfrm>
            <a:off x="4359349" y="4719090"/>
            <a:ext cx="5962305" cy="119498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Compiler:</a:t>
            </a:r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“✅ Everything looks good to me!”</a:t>
            </a:r>
          </a:p>
        </p:txBody>
      </p:sp>
    </p:spTree>
    <p:extLst>
      <p:ext uri="{BB962C8B-B14F-4D97-AF65-F5344CB8AC3E}">
        <p14:creationId xmlns:p14="http://schemas.microsoft.com/office/powerpoint/2010/main" val="153387372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FCD89-53C0-67C3-3A6F-D45226C3A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08BA0-A6D6-053E-833C-F601940A2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our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dirty="0"/>
              <a:t> class!</a:t>
            </a:r>
            <a:endParaRPr lang="en-US" dirty="0">
              <a:solidFill>
                <a:srgbClr val="6F42C1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2975D4A-956E-3922-E7BE-F3EA6F0928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template&lt;class T&gt; 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 Vector {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size() 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bool empty() 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br>
              <a:rPr lang="en-US" dirty="0">
                <a:solidFill>
                  <a:schemeClr val="bg1">
                    <a:lumMod val="85000"/>
                  </a:scheme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T&amp; operator[] (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index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 </a:t>
            </a:r>
          </a:p>
          <a:p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T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  <a:r>
              <a:rPr lang="en-US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void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push_back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(const T&amp;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8C729-2437-1050-C42A-089ED6F8E0EA}"/>
              </a:ext>
            </a:extLst>
          </p:cNvPr>
          <p:cNvSpPr txBox="1">
            <a:spLocks/>
          </p:cNvSpPr>
          <p:nvPr/>
        </p:nvSpPr>
        <p:spPr>
          <a:xfrm>
            <a:off x="6650951" y="1014230"/>
            <a:ext cx="5325149" cy="353236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There’s at least </a:t>
            </a:r>
            <a:r>
              <a:rPr lang="en-US" sz="2800" b="1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one (or maybe two)</a:t>
            </a:r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problems with how this method is declared.</a:t>
            </a:r>
          </a:p>
          <a:p>
            <a:endParaRPr lang="en-US" sz="2800" dirty="0"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Turn to a partner and take 60s to talk about why! </a:t>
            </a:r>
          </a:p>
        </p:txBody>
      </p:sp>
      <p:cxnSp>
        <p:nvCxnSpPr>
          <p:cNvPr id="4" name="Straight Arrow Connector 4">
            <a:extLst>
              <a:ext uri="{FF2B5EF4-FFF2-40B4-BE49-F238E27FC236}">
                <a16:creationId xmlns:a16="http://schemas.microsoft.com/office/drawing/2014/main" id="{FDC32D9E-6CDE-6D4F-7422-F1AB65AAB667}"/>
              </a:ext>
            </a:extLst>
          </p:cNvPr>
          <p:cNvCxnSpPr>
            <a:cxnSpLocks/>
            <a:stCxn id="3" idx="2"/>
          </p:cNvCxnSpPr>
          <p:nvPr/>
        </p:nvCxnSpPr>
        <p:spPr>
          <a:xfrm rot="5400000">
            <a:off x="7679363" y="3268036"/>
            <a:ext cx="355601" cy="2912726"/>
          </a:xfrm>
          <a:prstGeom prst="curvedConnector2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612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D1EA1-0851-F1B6-D924-8DE269FC3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#1: </a:t>
            </a:r>
            <a:r>
              <a:rPr lang="en-US" dirty="0">
                <a:solidFill>
                  <a:srgbClr val="D73A48"/>
                </a:solidFill>
              </a:rPr>
              <a:t>const</a:t>
            </a:r>
            <a:r>
              <a:rPr lang="en-US" dirty="0"/>
              <a:t> consumers can modify!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7E4EE8-38AD-6DF3-1D0A-008A5E908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  <a:r>
              <a:rPr lang="en-US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  <a:endParaRPr lang="en-US" b="0" dirty="0">
              <a:solidFill>
                <a:srgbClr val="D73A49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endParaRPr lang="en-US" b="0" dirty="0">
              <a:solidFill>
                <a:srgbClr val="D73A49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void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oops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42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endParaRPr lang="en-US" dirty="0"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6135A0-5937-A322-E487-7494CD9F1893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 dirty="0"/>
              <a:t>Since we return a </a:t>
            </a:r>
            <a:r>
              <a:rPr lang="en-US" b="1" dirty="0"/>
              <a:t>non-const reference</a:t>
            </a:r>
            <a:r>
              <a:rPr lang="en-US" dirty="0"/>
              <a:t>, we can assign to it!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0BCC1F3-F792-7223-E6F6-603573B0A266}"/>
              </a:ext>
            </a:extLst>
          </p:cNvPr>
          <p:cNvSpPr txBox="1">
            <a:spLocks/>
          </p:cNvSpPr>
          <p:nvPr/>
        </p:nvSpPr>
        <p:spPr>
          <a:xfrm>
            <a:off x="5452241" y="4304211"/>
            <a:ext cx="5325149" cy="159076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Remember, since </a:t>
            </a:r>
            <a:r>
              <a:rPr lang="en-US" sz="2800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is const, we shouldn’t be able to modify it</a:t>
            </a:r>
          </a:p>
        </p:txBody>
      </p:sp>
    </p:spTree>
    <p:extLst>
      <p:ext uri="{BB962C8B-B14F-4D97-AF65-F5344CB8AC3E}">
        <p14:creationId xmlns:p14="http://schemas.microsoft.com/office/powerpoint/2010/main" val="2888223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3EA53-1AB9-3193-D38F-03C4A14F1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0B74B-DA26-F46F-8510-7518DBE46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Solution: return a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/>
              <a:t> reference</a:t>
            </a:r>
            <a:endParaRPr lang="en-US" dirty="0">
              <a:solidFill>
                <a:srgbClr val="6F42C1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E82D4F4-542A-9F20-33E1-A9D548001B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D73A49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dirty="0">
                <a:solidFill>
                  <a:srgbClr val="24292E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dirty="0">
                <a:solidFill>
                  <a:srgbClr val="D73A49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dirty="0">
                <a:solidFill>
                  <a:srgbClr val="24292E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dirty="0">
                <a:solidFill>
                  <a:srgbClr val="24292E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 </a:t>
            </a:r>
          </a:p>
          <a:p>
            <a:r>
              <a:rPr lang="en-US" dirty="0">
                <a:solidFill>
                  <a:srgbClr val="D73A49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dirty="0">
                <a:solidFill>
                  <a:srgbClr val="24292E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dirty="0">
                <a:solidFill>
                  <a:srgbClr val="24292E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dirty="0">
                <a:solidFill>
                  <a:srgbClr val="D73A49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dirty="0">
              <a:solidFill>
                <a:srgbClr val="24292E">
                  <a:alpha val="25000"/>
                </a:srgbClr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dirty="0">
                <a:solidFill>
                  <a:srgbClr val="6F42C1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dirty="0" err="1">
                <a:solidFill>
                  <a:srgbClr val="6F42C1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dirty="0">
                <a:solidFill>
                  <a:srgbClr val="24292E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</a:t>
            </a:r>
            <a:r>
              <a:rPr lang="en-US" dirty="0">
                <a:solidFill>
                  <a:srgbClr val="24292E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 </a:t>
            </a:r>
            <a:r>
              <a:rPr lang="en-US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>
                <a:solidFill>
                  <a:srgbClr val="24292E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D73A49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bool</a:t>
            </a:r>
            <a:r>
              <a:rPr lang="en-US" dirty="0">
                <a:solidFill>
                  <a:srgbClr val="24292E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empty</a:t>
            </a:r>
            <a:r>
              <a:rPr lang="en-US" dirty="0">
                <a:solidFill>
                  <a:srgbClr val="24292E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 </a:t>
            </a:r>
            <a:r>
              <a:rPr lang="en-US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>
                <a:solidFill>
                  <a:srgbClr val="24292E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br>
              <a:rPr lang="en-US" dirty="0">
                <a:solidFill>
                  <a:srgbClr val="24292E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dirty="0">
                <a:solidFill>
                  <a:srgbClr val="24292E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dirty="0">
                <a:solidFill>
                  <a:srgbClr val="6F42C1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dirty="0">
                <a:solidFill>
                  <a:srgbClr val="D73A49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dirty="0">
                <a:solidFill>
                  <a:srgbClr val="24292E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operator[]</a:t>
            </a:r>
            <a:r>
              <a:rPr lang="en-US" dirty="0">
                <a:solidFill>
                  <a:srgbClr val="24292E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dirty="0" err="1">
                <a:solidFill>
                  <a:srgbClr val="6F42C1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dirty="0">
                <a:solidFill>
                  <a:srgbClr val="24292E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E36209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dirty="0">
                <a:solidFill>
                  <a:srgbClr val="24292E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 </a:t>
            </a:r>
          </a:p>
          <a:p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1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  <a:r>
              <a:rPr lang="en-US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D73A49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void</a:t>
            </a:r>
            <a:r>
              <a:rPr lang="en-US" dirty="0">
                <a:solidFill>
                  <a:srgbClr val="24292E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 err="1">
                <a:solidFill>
                  <a:srgbClr val="6F42C1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push_back</a:t>
            </a:r>
            <a:r>
              <a:rPr lang="en-US" dirty="0">
                <a:solidFill>
                  <a:srgbClr val="24292E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dirty="0">
                <a:solidFill>
                  <a:srgbClr val="D73A49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>
                <a:solidFill>
                  <a:srgbClr val="24292E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dirty="0">
                <a:solidFill>
                  <a:srgbClr val="D73A49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dirty="0">
                <a:solidFill>
                  <a:srgbClr val="24292E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 err="1">
                <a:solidFill>
                  <a:srgbClr val="E36209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dirty="0">
                <a:solidFill>
                  <a:srgbClr val="24292E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dirty="0">
                <a:solidFill>
                  <a:srgbClr val="24292E">
                    <a:alpha val="25000"/>
                  </a:srgb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D12265-683A-D43A-3EFE-A08417385617}"/>
              </a:ext>
            </a:extLst>
          </p:cNvPr>
          <p:cNvSpPr txBox="1">
            <a:spLocks/>
          </p:cNvSpPr>
          <p:nvPr/>
        </p:nvSpPr>
        <p:spPr>
          <a:xfrm>
            <a:off x="6032205" y="1933359"/>
            <a:ext cx="5962305" cy="119498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Hmm... There’s still a problem here</a:t>
            </a:r>
          </a:p>
        </p:txBody>
      </p:sp>
    </p:spTree>
    <p:extLst>
      <p:ext uri="{BB962C8B-B14F-4D97-AF65-F5344CB8AC3E}">
        <p14:creationId xmlns:p14="http://schemas.microsoft.com/office/powerpoint/2010/main" val="1669591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F13C6-5820-1F7F-9E9F-DEE546202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8BC84-F3DF-2E2B-02A9-E1DB2673B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#2: non-</a:t>
            </a:r>
            <a:r>
              <a:rPr lang="en-US" dirty="0">
                <a:solidFill>
                  <a:srgbClr val="D73A48"/>
                </a:solidFill>
              </a:rPr>
              <a:t>const</a:t>
            </a:r>
            <a:r>
              <a:rPr lang="en-US" dirty="0"/>
              <a:t> consumers can’t modify!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AC378-F932-185C-EBCC-D2042C00E3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  <a:r>
              <a:rPr lang="en-US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  <a:endParaRPr lang="en-US" b="0" dirty="0">
              <a:solidFill>
                <a:srgbClr val="D73A49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endParaRPr lang="en-US" b="0" dirty="0">
              <a:solidFill>
                <a:srgbClr val="D73A49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void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ooh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42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endParaRPr lang="en-US" dirty="0"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318464-8616-DBB9-BF1F-ED299AB57BA7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 dirty="0"/>
              <a:t>If we return a const reference, now we cannot update elements!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022B67F-CC3F-8B6A-8707-10399AED20E6}"/>
              </a:ext>
            </a:extLst>
          </p:cNvPr>
          <p:cNvSpPr txBox="1">
            <a:spLocks/>
          </p:cNvSpPr>
          <p:nvPr/>
        </p:nvSpPr>
        <p:spPr>
          <a:xfrm>
            <a:off x="3987800" y="4495799"/>
            <a:ext cx="6814991" cy="106897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❌ Can’t assign to </a:t>
            </a:r>
            <a:r>
              <a:rPr lang="en-US" sz="2800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 int&amp;</a:t>
            </a:r>
          </a:p>
        </p:txBody>
      </p:sp>
    </p:spTree>
    <p:extLst>
      <p:ext uri="{BB962C8B-B14F-4D97-AF65-F5344CB8AC3E}">
        <p14:creationId xmlns:p14="http://schemas.microsoft.com/office/powerpoint/2010/main" val="903022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01CC4-EA0B-78C2-CC57-E54BF0B35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Solution: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/>
              <a:t> overloading!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AF7E2-E382-6377-CEA2-74E4A63008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3064691"/>
            <a:ext cx="11404600" cy="3257731"/>
          </a:xfrm>
        </p:spPr>
        <p:txBody>
          <a:bodyPr>
            <a:normAutofit/>
          </a:bodyPr>
          <a:lstStyle/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 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2D5845-9F69-1701-FA8D-87F812B0396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93700" y="1541416"/>
            <a:ext cx="11404600" cy="137958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Let’s define two versions of our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dirty="0"/>
              <a:t> method</a:t>
            </a:r>
          </a:p>
          <a:p>
            <a:r>
              <a:rPr lang="en-US" dirty="0"/>
              <a:t>One version gets called for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/>
              <a:t> instances</a:t>
            </a:r>
          </a:p>
          <a:p>
            <a:r>
              <a:rPr lang="en-US" dirty="0"/>
              <a:t>…And another that gets called for non-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/>
              <a:t> instances</a:t>
            </a:r>
          </a:p>
        </p:txBody>
      </p:sp>
    </p:spTree>
    <p:extLst>
      <p:ext uri="{BB962C8B-B14F-4D97-AF65-F5344CB8AC3E}">
        <p14:creationId xmlns:p14="http://schemas.microsoft.com/office/powerpoint/2010/main" val="75317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A2F33-B970-0FDD-BF6A-6DB33FD1A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Solution: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/>
              <a:t> overloading (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cpp</a:t>
            </a:r>
            <a:r>
              <a:rPr lang="en-US" dirty="0"/>
              <a:t> file)!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F49071-C7B6-D98D-F47B-E05AC55EB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&gt;::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[</a:t>
            </a:r>
            <a:r>
              <a:rPr lang="en-US" b="0" dirty="0">
                <a:solidFill>
                  <a:srgbClr val="E36208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];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endParaRPr lang="en-US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&gt;::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[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];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7656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567600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8FBE1-974B-2B3A-BCB1-792BF670D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C1A67-99C1-D5A8-71AA-23984E0BF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Solution: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/>
              <a:t> overloading (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</a:t>
            </a:r>
            <a:r>
              <a:rPr lang="en-US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cpp</a:t>
            </a:r>
            <a:r>
              <a:rPr lang="en-US" dirty="0"/>
              <a:t> file)!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FFA54-F442-2020-CC87-E0815B245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&gt;::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[</a:t>
            </a:r>
            <a:r>
              <a:rPr lang="en-US" b="0" dirty="0">
                <a:solidFill>
                  <a:srgbClr val="E36208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];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endParaRPr lang="en-US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&gt;::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[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];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0C5C0A9-2A91-1CB5-21BF-AFF7E676E657}"/>
              </a:ext>
            </a:extLst>
          </p:cNvPr>
          <p:cNvSpPr txBox="1">
            <a:spLocks/>
          </p:cNvSpPr>
          <p:nvPr/>
        </p:nvSpPr>
        <p:spPr>
          <a:xfrm>
            <a:off x="6671441" y="2997200"/>
            <a:ext cx="5325149" cy="2159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Two methods with the same implementation.</a:t>
            </a:r>
          </a:p>
          <a:p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It’s a bit redundant, but it’s only one line</a:t>
            </a:r>
          </a:p>
        </p:txBody>
      </p:sp>
    </p:spTree>
    <p:extLst>
      <p:ext uri="{BB962C8B-B14F-4D97-AF65-F5344CB8AC3E}">
        <p14:creationId xmlns:p14="http://schemas.microsoft.com/office/powerpoint/2010/main" val="4003670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56BD9-5D6D-9666-F1BA-BED503131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if we added a </a:t>
            </a:r>
            <a:r>
              <a:rPr lang="en-US" dirty="0" err="1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findElement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531B0-051B-2DD5-DBF7-63502ACE8E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800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 </a:t>
            </a:r>
          </a:p>
          <a:p>
            <a:r>
              <a:rPr lang="en-US" sz="2800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sz="2800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sz="2800" b="0" dirty="0">
              <a:solidFill>
                <a:srgbClr val="24292E">
                  <a:alpha val="25000"/>
                </a:srgbClr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800" b="0" dirty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T</a:t>
            </a:r>
            <a:r>
              <a:rPr lang="en-US" sz="2800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800" b="0" dirty="0" err="1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E3620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sz="2800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const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800" b="0" dirty="0" err="1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E3620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  <a:r>
              <a:rPr lang="en-US" sz="2800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T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findElement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const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findElement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308444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78B8B-C59B-8215-4F13-9E31815D2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</a:t>
            </a:r>
            <a:r>
              <a:rPr lang="en-US" dirty="0" err="1">
                <a:solidFill>
                  <a:srgbClr val="D73A48"/>
                </a:solidFill>
              </a:rPr>
              <a:t>findElement</a:t>
            </a:r>
            <a:endParaRPr lang="en-US" dirty="0">
              <a:solidFill>
                <a:srgbClr val="D73A48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C4A17-0C1B-0C88-385A-E1E587E6F7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&gt;::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findElement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for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logical_size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++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if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[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]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[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];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}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throw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out_of_range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"Element not found"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endParaRPr lang="en-US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What about the const version of </a:t>
            </a:r>
            <a:r>
              <a:rPr lang="en-US" b="0" dirty="0" err="1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findElement</a:t>
            </a:r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?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4664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CCAB1-921C-37AA-AC76-BDE47AC54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80227-B28B-D75D-C7D6-B66E3FA75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</a:t>
            </a:r>
            <a:r>
              <a:rPr lang="en-US" dirty="0" err="1">
                <a:solidFill>
                  <a:srgbClr val="D73A48"/>
                </a:solidFill>
              </a:rPr>
              <a:t>findElement</a:t>
            </a:r>
            <a:endParaRPr lang="en-US" dirty="0">
              <a:solidFill>
                <a:srgbClr val="D73A48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B94B4-EC87-0DD1-0553-21634177AB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541416"/>
            <a:ext cx="11404600" cy="5037183"/>
          </a:xfrm>
        </p:spPr>
        <p:txBody>
          <a:bodyPr>
            <a:normAutofit fontScale="70000" lnSpcReduction="20000"/>
          </a:bodyPr>
          <a:lstStyle/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&gt;::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findElement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for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logical_size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++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if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[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]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[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];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}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throw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out_of_range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"Element not found"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&gt;::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findElement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for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logical_size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++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if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[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]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[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];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}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throw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out_of_range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"Element not found"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A1695B6-9152-D03B-3FA3-96D023445064}"/>
              </a:ext>
            </a:extLst>
          </p:cNvPr>
          <p:cNvSpPr txBox="1">
            <a:spLocks/>
          </p:cNvSpPr>
          <p:nvPr/>
        </p:nvSpPr>
        <p:spPr>
          <a:xfrm>
            <a:off x="6096000" y="2980507"/>
            <a:ext cx="5325149" cy="2159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 works, but it’s super redundant. There must be a better way!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C134E8-8DA5-024E-D920-5E87BC8BE0A0}"/>
              </a:ext>
            </a:extLst>
          </p:cNvPr>
          <p:cNvSpPr txBox="1"/>
          <p:nvPr/>
        </p:nvSpPr>
        <p:spPr>
          <a:xfrm>
            <a:off x="8250865" y="1413129"/>
            <a:ext cx="1552354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dirty="0"/>
              <a:t>🤔</a:t>
            </a:r>
          </a:p>
        </p:txBody>
      </p:sp>
    </p:spTree>
    <p:extLst>
      <p:ext uri="{BB962C8B-B14F-4D97-AF65-F5344CB8AC3E}">
        <p14:creationId xmlns:p14="http://schemas.microsoft.com/office/powerpoint/2010/main" val="955357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C1E703D-1A87-CEBC-0008-0FE0E9C9B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Casting: the process of converting one type to another</a:t>
            </a:r>
          </a:p>
          <a:p>
            <a:pPr lvl="1"/>
            <a:r>
              <a:rPr lang="en-US" dirty="0"/>
              <a:t>There are </a:t>
            </a:r>
            <a:r>
              <a:rPr lang="en-US" i="1" dirty="0"/>
              <a:t>many </a:t>
            </a:r>
            <a:r>
              <a:rPr lang="en-US" dirty="0"/>
              <a:t>ways to cast in C++</a:t>
            </a:r>
          </a:p>
          <a:p>
            <a:r>
              <a:rPr lang="en-US" dirty="0" err="1">
                <a:solidFill>
                  <a:srgbClr val="005CC5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const_cast</a:t>
            </a:r>
            <a:r>
              <a:rPr lang="en-US" dirty="0">
                <a:solidFill>
                  <a:srgbClr val="005CC5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/>
              <a:t>allows us to “cast away” the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/>
              <a:t>-ness of a variable</a:t>
            </a:r>
          </a:p>
          <a:p>
            <a:pPr lvl="1"/>
            <a:r>
              <a:rPr lang="en-US" dirty="0"/>
              <a:t>Usage: </a:t>
            </a:r>
            <a:r>
              <a:rPr lang="en-US" dirty="0" err="1">
                <a:solidFill>
                  <a:srgbClr val="005CC5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const_cast</a:t>
            </a:r>
            <a:r>
              <a:rPr lang="en-US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dirty="0" err="1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target_type</a:t>
            </a:r>
            <a:r>
              <a:rPr lang="en-US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&gt;(expression)</a:t>
            </a:r>
          </a:p>
          <a:p>
            <a:pPr lvl="1"/>
            <a:r>
              <a:rPr lang="en-US" dirty="0">
                <a:ea typeface="EmbedMenlo" panose="020B0609030804020204" pitchFamily="49" charset="0"/>
                <a:cs typeface="EmbedMenlo" panose="020B0609030804020204" pitchFamily="49" charset="0"/>
              </a:rPr>
              <a:t>So why is this useful?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A9B948A-41BE-DD87-6A34-5D365E9CA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slight (but useful) aside</a:t>
            </a:r>
          </a:p>
        </p:txBody>
      </p:sp>
    </p:spTree>
    <p:extLst>
      <p:ext uri="{BB962C8B-B14F-4D97-AF65-F5344CB8AC3E}">
        <p14:creationId xmlns:p14="http://schemas.microsoft.com/office/powerpoint/2010/main" val="675916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7426E-62D4-1206-0B36-BD11BAE0E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050F2-6991-777A-CD7C-8B3ABDA93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</a:t>
            </a:r>
            <a:r>
              <a:rPr lang="en-US" dirty="0" err="1">
                <a:solidFill>
                  <a:srgbClr val="D73A48"/>
                </a:solidFill>
              </a:rPr>
              <a:t>findElement</a:t>
            </a:r>
            <a:endParaRPr lang="en-US" dirty="0">
              <a:solidFill>
                <a:srgbClr val="D73A48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EB4602-7667-0E4F-EC12-49383FD1DE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541416"/>
            <a:ext cx="11404600" cy="5037183"/>
          </a:xfrm>
        </p:spPr>
        <p:txBody>
          <a:bodyPr>
            <a:normAutofit fontScale="92500" lnSpcReduction="20000"/>
          </a:bodyPr>
          <a:lstStyle/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&gt;::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findElement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for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logical_size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++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if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[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]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[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];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}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throw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out_of_range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"Element not found"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&gt;::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findElement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const_cast</a:t>
            </a:r>
            <a:r>
              <a:rPr lang="en-US" b="0" dirty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&gt;&amp;&gt;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b="0" dirty="0">
                <a:solidFill>
                  <a:srgbClr val="005CC5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).</a:t>
            </a:r>
            <a:r>
              <a:rPr lang="en-US" b="0" dirty="0" err="1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findElement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E3620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6E0435B-82B7-D629-5331-A55E0D266307}"/>
              </a:ext>
            </a:extLst>
          </p:cNvPr>
          <p:cNvSpPr txBox="1">
            <a:spLocks/>
          </p:cNvSpPr>
          <p:nvPr/>
        </p:nvSpPr>
        <p:spPr>
          <a:xfrm>
            <a:off x="6096000" y="2548707"/>
            <a:ext cx="5325149" cy="2159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Ahh no more redundancy… But what in the Bjarne is going on here?</a:t>
            </a:r>
          </a:p>
        </p:txBody>
      </p:sp>
    </p:spTree>
    <p:extLst>
      <p:ext uri="{BB962C8B-B14F-4D97-AF65-F5344CB8AC3E}">
        <p14:creationId xmlns:p14="http://schemas.microsoft.com/office/powerpoint/2010/main" val="2423123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D31EC-39A7-9438-CB8B-1C220BA96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const_cast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&gt;&amp;&gt;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sz="2800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).</a:t>
            </a:r>
            <a:r>
              <a:rPr lang="en-US" sz="28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findElement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800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5036988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E8B68-2EE8-D5CA-F9A0-809CDBC23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498B1-87A3-A094-AD48-C629D7B41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const_cast</a:t>
            </a:r>
            <a:r>
              <a:rPr lang="en-US" sz="2800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800" b="0" dirty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sz="2800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800" b="0" dirty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&gt;&amp;&gt;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800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sz="2800" b="0" dirty="0">
                <a:solidFill>
                  <a:srgbClr val="005CC5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).</a:t>
            </a:r>
            <a:r>
              <a:rPr lang="en-US" sz="2800" b="0" dirty="0" err="1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findElement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800" b="0" dirty="0">
                <a:solidFill>
                  <a:srgbClr val="E3620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  <a:endParaRPr lang="en-US" sz="2800" dirty="0">
              <a:solidFill>
                <a:srgbClr val="24292E">
                  <a:alpha val="25000"/>
                </a:srgb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E1455-0D16-CF2C-9D3F-0D06645DB3CF}"/>
              </a:ext>
            </a:extLst>
          </p:cNvPr>
          <p:cNvSpPr txBox="1">
            <a:spLocks/>
          </p:cNvSpPr>
          <p:nvPr/>
        </p:nvSpPr>
        <p:spPr>
          <a:xfrm>
            <a:off x="770851" y="1034570"/>
            <a:ext cx="5325149" cy="125818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err="1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const_cast</a:t>
            </a:r>
            <a:r>
              <a:rPr lang="en-US" sz="2800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casts away the const</a:t>
            </a:r>
          </a:p>
        </p:txBody>
      </p:sp>
      <p:cxnSp>
        <p:nvCxnSpPr>
          <p:cNvPr id="4" name="Straight Arrow Connector 4">
            <a:extLst>
              <a:ext uri="{FF2B5EF4-FFF2-40B4-BE49-F238E27FC236}">
                <a16:creationId xmlns:a16="http://schemas.microsoft.com/office/drawing/2014/main" id="{3CA28BC6-804F-A434-A2BE-C5D7351E074A}"/>
              </a:ext>
            </a:extLst>
          </p:cNvPr>
          <p:cNvCxnSpPr>
            <a:cxnSpLocks/>
            <a:stCxn id="3" idx="2"/>
          </p:cNvCxnSpPr>
          <p:nvPr/>
        </p:nvCxnSpPr>
        <p:spPr>
          <a:xfrm flipH="1">
            <a:off x="2209801" y="2292754"/>
            <a:ext cx="1223625" cy="75275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851705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D1601-A504-68ED-DAE3-FE5F6E754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206BE-C937-C214-93D1-8382EF80F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0" dirty="0" err="1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const_cast</a:t>
            </a:r>
            <a:r>
              <a:rPr lang="en-US" sz="2800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800" b="0" dirty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sz="2800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800" b="0" dirty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&gt;&amp;&gt;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80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sz="280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).</a:t>
            </a:r>
            <a:r>
              <a:rPr lang="en-US" sz="2800" b="0" dirty="0" err="1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findElement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800" b="0" dirty="0">
                <a:solidFill>
                  <a:srgbClr val="E3620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  <a:endParaRPr lang="en-US" sz="2800" dirty="0">
              <a:solidFill>
                <a:srgbClr val="24292E">
                  <a:alpha val="25000"/>
                </a:srgb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62CF8-E07B-64E8-D53B-A395C91E05D3}"/>
              </a:ext>
            </a:extLst>
          </p:cNvPr>
          <p:cNvSpPr txBox="1">
            <a:spLocks/>
          </p:cNvSpPr>
          <p:nvPr/>
        </p:nvSpPr>
        <p:spPr>
          <a:xfrm>
            <a:off x="770851" y="1034570"/>
            <a:ext cx="5325149" cy="125818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err="1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const_cast</a:t>
            </a:r>
            <a:r>
              <a:rPr lang="en-US" sz="2800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casts away the const</a:t>
            </a:r>
          </a:p>
        </p:txBody>
      </p:sp>
      <p:cxnSp>
        <p:nvCxnSpPr>
          <p:cNvPr id="4" name="Straight Arrow Connector 4">
            <a:extLst>
              <a:ext uri="{FF2B5EF4-FFF2-40B4-BE49-F238E27FC236}">
                <a16:creationId xmlns:a16="http://schemas.microsoft.com/office/drawing/2014/main" id="{6AF605BC-6888-55EF-766D-4C1A813F710B}"/>
              </a:ext>
            </a:extLst>
          </p:cNvPr>
          <p:cNvCxnSpPr>
            <a:cxnSpLocks/>
            <a:stCxn id="3" idx="2"/>
          </p:cNvCxnSpPr>
          <p:nvPr/>
        </p:nvCxnSpPr>
        <p:spPr>
          <a:xfrm flipH="1">
            <a:off x="2209801" y="2292754"/>
            <a:ext cx="1223625" cy="75275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00BB5EB-96B7-C4E5-E1C1-632E17D4D27A}"/>
              </a:ext>
            </a:extLst>
          </p:cNvPr>
          <p:cNvSpPr txBox="1">
            <a:spLocks/>
          </p:cNvSpPr>
          <p:nvPr/>
        </p:nvSpPr>
        <p:spPr>
          <a:xfrm>
            <a:off x="6473151" y="1034571"/>
            <a:ext cx="5325149" cy="125818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sz="2800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 </a:t>
            </a:r>
            <a:r>
              <a:rPr lang="en-US" sz="2800" b="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dereferences a </a:t>
            </a:r>
            <a:r>
              <a:rPr lang="en-US" sz="2800" b="0" dirty="0">
                <a:solidFill>
                  <a:srgbClr val="D73A48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800" b="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sz="2800" b="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b="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sz="2800" b="0" dirty="0">
                <a:solidFill>
                  <a:srgbClr val="D73A48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sz="2800" b="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giving us a const-ref</a:t>
            </a:r>
            <a:endParaRPr lang="en-US" sz="2800" dirty="0"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cxnSp>
        <p:nvCxnSpPr>
          <p:cNvPr id="8" name="Straight Arrow Connector 4">
            <a:extLst>
              <a:ext uri="{FF2B5EF4-FFF2-40B4-BE49-F238E27FC236}">
                <a16:creationId xmlns:a16="http://schemas.microsoft.com/office/drawing/2014/main" id="{ABC061B3-4F9A-ABBD-7D2F-6EBB46581F95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6553200" y="2292755"/>
            <a:ext cx="2582526" cy="752749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DBFE083-68A3-2D64-AD72-F14E1646E33A}"/>
              </a:ext>
            </a:extLst>
          </p:cNvPr>
          <p:cNvSpPr txBox="1">
            <a:spLocks/>
          </p:cNvSpPr>
          <p:nvPr/>
        </p:nvSpPr>
        <p:spPr>
          <a:xfrm>
            <a:off x="3768047" y="4458920"/>
            <a:ext cx="3929926" cy="7669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0" dirty="0">
                <a:solidFill>
                  <a:srgbClr val="D73A48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800" b="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sz="2800" b="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b="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sz="2800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endParaRPr lang="en-US" sz="2800" dirty="0"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cxnSp>
        <p:nvCxnSpPr>
          <p:cNvPr id="10" name="Straight Arrow Connector 4">
            <a:extLst>
              <a:ext uri="{FF2B5EF4-FFF2-40B4-BE49-F238E27FC236}">
                <a16:creationId xmlns:a16="http://schemas.microsoft.com/office/drawing/2014/main" id="{A96DC84F-EE18-AFEE-8492-3D54158C8CD8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5733010" y="3706169"/>
            <a:ext cx="497669" cy="752751"/>
          </a:xfrm>
          <a:prstGeom prst="straightConnector1">
            <a:avLst/>
          </a:prstGeom>
          <a:ln w="76200">
            <a:tail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4">
            <a:extLst>
              <a:ext uri="{FF2B5EF4-FFF2-40B4-BE49-F238E27FC236}">
                <a16:creationId xmlns:a16="http://schemas.microsoft.com/office/drawing/2014/main" id="{3E5A3729-BC5E-AC51-B595-7CE62A74CFF3}"/>
              </a:ext>
            </a:extLst>
          </p:cNvPr>
          <p:cNvCxnSpPr>
            <a:cxnSpLocks/>
          </p:cNvCxnSpPr>
          <p:nvPr/>
        </p:nvCxnSpPr>
        <p:spPr>
          <a:xfrm>
            <a:off x="5733010" y="3706169"/>
            <a:ext cx="1093093" cy="0"/>
          </a:xfrm>
          <a:prstGeom prst="straightConnector1">
            <a:avLst/>
          </a:prstGeom>
          <a:ln w="76200">
            <a:solidFill>
              <a:srgbClr val="005CC5"/>
            </a:solidFill>
            <a:tail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4197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3B899-6FE0-C451-46C6-56BE4AA0C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04AF-8624-2902-1E7E-E71E4B949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0" dirty="0" err="1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const_cast</a:t>
            </a:r>
            <a:r>
              <a:rPr lang="en-US" sz="2800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80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sz="280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80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&gt;&amp;</a:t>
            </a:r>
            <a:r>
              <a:rPr lang="en-US" sz="2800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800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sz="2800" b="0" dirty="0">
                <a:solidFill>
                  <a:srgbClr val="005CC5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).</a:t>
            </a:r>
            <a:r>
              <a:rPr lang="en-US" sz="2800" b="0" dirty="0" err="1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findElement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800" b="0" dirty="0">
                <a:solidFill>
                  <a:srgbClr val="E3620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  <a:endParaRPr lang="en-US" sz="2800" dirty="0">
              <a:solidFill>
                <a:srgbClr val="24292E">
                  <a:alpha val="25000"/>
                </a:srgb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2E26C-6EF6-D3D5-27F0-45A7797F05E8}"/>
              </a:ext>
            </a:extLst>
          </p:cNvPr>
          <p:cNvSpPr txBox="1">
            <a:spLocks/>
          </p:cNvSpPr>
          <p:nvPr/>
        </p:nvSpPr>
        <p:spPr>
          <a:xfrm>
            <a:off x="770851" y="1034570"/>
            <a:ext cx="5325149" cy="125818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err="1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const_cast</a:t>
            </a:r>
            <a:r>
              <a:rPr lang="en-US" sz="2800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casts away the const</a:t>
            </a:r>
          </a:p>
        </p:txBody>
      </p:sp>
      <p:cxnSp>
        <p:nvCxnSpPr>
          <p:cNvPr id="4" name="Straight Arrow Connector 4">
            <a:extLst>
              <a:ext uri="{FF2B5EF4-FFF2-40B4-BE49-F238E27FC236}">
                <a16:creationId xmlns:a16="http://schemas.microsoft.com/office/drawing/2014/main" id="{A077A7E3-752C-5EAF-BAEF-870FC894EBB5}"/>
              </a:ext>
            </a:extLst>
          </p:cNvPr>
          <p:cNvCxnSpPr>
            <a:cxnSpLocks/>
            <a:stCxn id="3" idx="2"/>
          </p:cNvCxnSpPr>
          <p:nvPr/>
        </p:nvCxnSpPr>
        <p:spPr>
          <a:xfrm flipH="1">
            <a:off x="2209801" y="2292754"/>
            <a:ext cx="1223625" cy="75275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5662279-AC35-2E60-8950-CA3C38EAF1FB}"/>
              </a:ext>
            </a:extLst>
          </p:cNvPr>
          <p:cNvSpPr txBox="1">
            <a:spLocks/>
          </p:cNvSpPr>
          <p:nvPr/>
        </p:nvSpPr>
        <p:spPr>
          <a:xfrm>
            <a:off x="770851" y="4962976"/>
            <a:ext cx="5325149" cy="141242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&gt;&amp; </a:t>
            </a:r>
            <a:r>
              <a:rPr lang="en-US" sz="2800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is a     </a:t>
            </a:r>
            <a:r>
              <a:rPr lang="en-US" sz="2800" b="1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non-const</a:t>
            </a:r>
            <a:r>
              <a:rPr lang="en-US" sz="2800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reference, the type we would like</a:t>
            </a:r>
            <a:endParaRPr lang="en-US" sz="2800" dirty="0"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cxnSp>
        <p:nvCxnSpPr>
          <p:cNvPr id="6" name="Straight Arrow Connector 4">
            <a:extLst>
              <a:ext uri="{FF2B5EF4-FFF2-40B4-BE49-F238E27FC236}">
                <a16:creationId xmlns:a16="http://schemas.microsoft.com/office/drawing/2014/main" id="{1761D677-D3E4-FB6D-A78D-9DDF45F13EE0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3433426" y="3853088"/>
            <a:ext cx="681374" cy="1109888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51763ED-90FC-4665-C26D-A22D30F5F2A5}"/>
              </a:ext>
            </a:extLst>
          </p:cNvPr>
          <p:cNvSpPr txBox="1">
            <a:spLocks/>
          </p:cNvSpPr>
          <p:nvPr/>
        </p:nvSpPr>
        <p:spPr>
          <a:xfrm>
            <a:off x="6473151" y="1034571"/>
            <a:ext cx="5325149" cy="125818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sz="2800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 </a:t>
            </a:r>
            <a:r>
              <a:rPr lang="en-US" sz="2800" b="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dereferences a </a:t>
            </a:r>
            <a:r>
              <a:rPr lang="en-US" sz="2800" b="0" dirty="0">
                <a:solidFill>
                  <a:srgbClr val="D73A48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800" b="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sz="2800" b="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b="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sz="2800" b="0" dirty="0">
                <a:solidFill>
                  <a:srgbClr val="D73A48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sz="2800" b="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giving us a const-ref</a:t>
            </a:r>
            <a:endParaRPr lang="en-US" sz="2800" dirty="0"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cxnSp>
        <p:nvCxnSpPr>
          <p:cNvPr id="8" name="Straight Arrow Connector 4">
            <a:extLst>
              <a:ext uri="{FF2B5EF4-FFF2-40B4-BE49-F238E27FC236}">
                <a16:creationId xmlns:a16="http://schemas.microsoft.com/office/drawing/2014/main" id="{C3EDFB68-888F-497F-83DA-B3FB6FFD8E88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6553200" y="2292755"/>
            <a:ext cx="2582526" cy="752749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985444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C6935-B494-6DFA-2B3E-C9CE6BC45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EF23D-B8C1-C181-E879-12DB9F246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0" dirty="0" err="1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const_cast</a:t>
            </a:r>
            <a:r>
              <a:rPr lang="en-US" sz="2800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800" b="0" dirty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sz="2800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800" b="0" dirty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&gt;&amp;&gt;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800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sz="2800" b="0" dirty="0">
                <a:solidFill>
                  <a:srgbClr val="005CC5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  <a:r>
              <a:rPr lang="en-US" sz="280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</a:t>
            </a:r>
            <a:r>
              <a:rPr lang="en-US" sz="280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findElement</a:t>
            </a:r>
            <a:r>
              <a:rPr lang="en-US" sz="280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80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</a:t>
            </a:r>
            <a:r>
              <a:rPr lang="en-US" sz="280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  <a:endParaRPr lang="en-US" sz="2800" dirty="0">
              <a:solidFill>
                <a:srgbClr val="24292E">
                  <a:alpha val="25000"/>
                </a:srgb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9E511-0C7F-410D-5CDF-A497B475B64E}"/>
              </a:ext>
            </a:extLst>
          </p:cNvPr>
          <p:cNvSpPr txBox="1">
            <a:spLocks/>
          </p:cNvSpPr>
          <p:nvPr/>
        </p:nvSpPr>
        <p:spPr>
          <a:xfrm>
            <a:off x="770851" y="1034570"/>
            <a:ext cx="5325149" cy="125818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err="1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const_cast</a:t>
            </a:r>
            <a:r>
              <a:rPr lang="en-US" sz="2800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casts away the const</a:t>
            </a:r>
          </a:p>
        </p:txBody>
      </p:sp>
      <p:cxnSp>
        <p:nvCxnSpPr>
          <p:cNvPr id="4" name="Straight Arrow Connector 4">
            <a:extLst>
              <a:ext uri="{FF2B5EF4-FFF2-40B4-BE49-F238E27FC236}">
                <a16:creationId xmlns:a16="http://schemas.microsoft.com/office/drawing/2014/main" id="{49498149-1AFA-67F6-048A-442A1D597290}"/>
              </a:ext>
            </a:extLst>
          </p:cNvPr>
          <p:cNvCxnSpPr>
            <a:cxnSpLocks/>
            <a:stCxn id="3" idx="2"/>
          </p:cNvCxnSpPr>
          <p:nvPr/>
        </p:nvCxnSpPr>
        <p:spPr>
          <a:xfrm flipH="1">
            <a:off x="2209801" y="2292754"/>
            <a:ext cx="1223625" cy="75275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11A3B4D-F640-64D0-5737-842ADE7A8471}"/>
              </a:ext>
            </a:extLst>
          </p:cNvPr>
          <p:cNvSpPr txBox="1">
            <a:spLocks/>
          </p:cNvSpPr>
          <p:nvPr/>
        </p:nvSpPr>
        <p:spPr>
          <a:xfrm>
            <a:off x="770851" y="4962976"/>
            <a:ext cx="5325149" cy="141242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&gt;&amp; </a:t>
            </a:r>
            <a:r>
              <a:rPr lang="en-US" sz="2800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is a     </a:t>
            </a:r>
            <a:r>
              <a:rPr lang="en-US" sz="2800" b="1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non-const</a:t>
            </a:r>
            <a:r>
              <a:rPr lang="en-US" sz="2800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reference, the type we would like</a:t>
            </a:r>
            <a:endParaRPr lang="en-US" sz="2800" dirty="0"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cxnSp>
        <p:nvCxnSpPr>
          <p:cNvPr id="6" name="Straight Arrow Connector 4">
            <a:extLst>
              <a:ext uri="{FF2B5EF4-FFF2-40B4-BE49-F238E27FC236}">
                <a16:creationId xmlns:a16="http://schemas.microsoft.com/office/drawing/2014/main" id="{DB7A84CE-375D-9287-65B9-B9D4A4072044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3433426" y="3853088"/>
            <a:ext cx="681374" cy="1109888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E63500D-E16D-BBC3-FA24-A1A6DD9E9956}"/>
              </a:ext>
            </a:extLst>
          </p:cNvPr>
          <p:cNvSpPr txBox="1">
            <a:spLocks/>
          </p:cNvSpPr>
          <p:nvPr/>
        </p:nvSpPr>
        <p:spPr>
          <a:xfrm>
            <a:off x="6473151" y="1034571"/>
            <a:ext cx="5325149" cy="125818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sz="2800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 </a:t>
            </a:r>
            <a:r>
              <a:rPr lang="en-US" sz="2800" b="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dereferences a </a:t>
            </a:r>
            <a:r>
              <a:rPr lang="en-US" sz="2800" b="0" dirty="0">
                <a:solidFill>
                  <a:srgbClr val="D73A48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800" b="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sz="2800" b="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b="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sz="2800" b="0" dirty="0">
                <a:solidFill>
                  <a:srgbClr val="D73A48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sz="2800" b="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giving us a const-ref</a:t>
            </a:r>
            <a:endParaRPr lang="en-US" sz="2800" dirty="0"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cxnSp>
        <p:nvCxnSpPr>
          <p:cNvPr id="8" name="Straight Arrow Connector 4">
            <a:extLst>
              <a:ext uri="{FF2B5EF4-FFF2-40B4-BE49-F238E27FC236}">
                <a16:creationId xmlns:a16="http://schemas.microsoft.com/office/drawing/2014/main" id="{41FA5FD9-99BD-55E9-92D2-1F175EB4E860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6553200" y="2292755"/>
            <a:ext cx="2582526" cy="752749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E23D254-E228-B1B6-1D04-17D0545274E0}"/>
              </a:ext>
            </a:extLst>
          </p:cNvPr>
          <p:cNvSpPr txBox="1">
            <a:spLocks/>
          </p:cNvSpPr>
          <p:nvPr/>
        </p:nvSpPr>
        <p:spPr>
          <a:xfrm>
            <a:off x="6553200" y="4939996"/>
            <a:ext cx="5325149" cy="143540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Phew... This is the non-const version of </a:t>
            </a:r>
            <a:r>
              <a:rPr lang="en-US" sz="28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findElement</a:t>
            </a:r>
            <a:endParaRPr lang="en-US" sz="2800" dirty="0">
              <a:solidFill>
                <a:srgbClr val="6F42C1"/>
              </a:solidFill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cxnSp>
        <p:nvCxnSpPr>
          <p:cNvPr id="11" name="Straight Arrow Connector 4">
            <a:extLst>
              <a:ext uri="{FF2B5EF4-FFF2-40B4-BE49-F238E27FC236}">
                <a16:creationId xmlns:a16="http://schemas.microsoft.com/office/drawing/2014/main" id="{4DBE836F-CD1C-F1D3-9024-469D691449F8}"/>
              </a:ext>
            </a:extLst>
          </p:cNvPr>
          <p:cNvCxnSpPr>
            <a:cxnSpLocks/>
            <a:stCxn id="10" idx="0"/>
          </p:cNvCxnSpPr>
          <p:nvPr/>
        </p:nvCxnSpPr>
        <p:spPr>
          <a:xfrm flipH="1" flipV="1">
            <a:off x="8758575" y="3853088"/>
            <a:ext cx="457200" cy="1086908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757199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5D2F6-5C16-DE3A-BB71-F066CF8FC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CB702-4C7A-CAFE-6E30-07FD48B35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const_cast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&gt;&amp;&gt;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sz="2800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  <a:r>
              <a:rPr lang="en-US" sz="280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</a:t>
            </a:r>
            <a:r>
              <a:rPr lang="en-US" sz="280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findElement</a:t>
            </a:r>
            <a:r>
              <a:rPr lang="en-US" sz="280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80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</a:t>
            </a:r>
            <a:r>
              <a:rPr lang="en-US" sz="280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  <a:endParaRPr lang="en-US" sz="2800" dirty="0">
              <a:solidFill>
                <a:srgbClr val="24292E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3E9EF-1DCC-B076-6D01-6057D8E21BCA}"/>
              </a:ext>
            </a:extLst>
          </p:cNvPr>
          <p:cNvSpPr txBox="1">
            <a:spLocks/>
          </p:cNvSpPr>
          <p:nvPr/>
        </p:nvSpPr>
        <p:spPr>
          <a:xfrm>
            <a:off x="770851" y="1034570"/>
            <a:ext cx="5325149" cy="125818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err="1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const_cast</a:t>
            </a:r>
            <a:r>
              <a:rPr lang="en-US" sz="2800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casts away the const</a:t>
            </a:r>
          </a:p>
        </p:txBody>
      </p:sp>
      <p:cxnSp>
        <p:nvCxnSpPr>
          <p:cNvPr id="4" name="Straight Arrow Connector 4">
            <a:extLst>
              <a:ext uri="{FF2B5EF4-FFF2-40B4-BE49-F238E27FC236}">
                <a16:creationId xmlns:a16="http://schemas.microsoft.com/office/drawing/2014/main" id="{43079B20-E347-E4DE-E61D-31B0A664656E}"/>
              </a:ext>
            </a:extLst>
          </p:cNvPr>
          <p:cNvCxnSpPr>
            <a:cxnSpLocks/>
            <a:stCxn id="3" idx="2"/>
          </p:cNvCxnSpPr>
          <p:nvPr/>
        </p:nvCxnSpPr>
        <p:spPr>
          <a:xfrm flipH="1">
            <a:off x="2209801" y="2292754"/>
            <a:ext cx="1223625" cy="75275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CBD7228-00D0-20B3-1FA3-97A4E1EF4E2F}"/>
              </a:ext>
            </a:extLst>
          </p:cNvPr>
          <p:cNvSpPr txBox="1">
            <a:spLocks/>
          </p:cNvSpPr>
          <p:nvPr/>
        </p:nvSpPr>
        <p:spPr>
          <a:xfrm>
            <a:off x="770851" y="4962976"/>
            <a:ext cx="5325149" cy="141242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&gt;&amp; </a:t>
            </a:r>
            <a:r>
              <a:rPr lang="en-US" sz="2800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is a     </a:t>
            </a:r>
            <a:r>
              <a:rPr lang="en-US" sz="2800" b="1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non-const</a:t>
            </a:r>
            <a:r>
              <a:rPr lang="en-US" sz="2800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reference, the type we would like</a:t>
            </a:r>
            <a:endParaRPr lang="en-US" sz="2800" dirty="0"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cxnSp>
        <p:nvCxnSpPr>
          <p:cNvPr id="6" name="Straight Arrow Connector 4">
            <a:extLst>
              <a:ext uri="{FF2B5EF4-FFF2-40B4-BE49-F238E27FC236}">
                <a16:creationId xmlns:a16="http://schemas.microsoft.com/office/drawing/2014/main" id="{67E10CCE-531E-DC28-36DA-A1B906FD61BE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3433426" y="3853088"/>
            <a:ext cx="681374" cy="1109888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DC07E20-5D5F-3E61-75C3-693DDB6F051C}"/>
              </a:ext>
            </a:extLst>
          </p:cNvPr>
          <p:cNvSpPr txBox="1">
            <a:spLocks/>
          </p:cNvSpPr>
          <p:nvPr/>
        </p:nvSpPr>
        <p:spPr>
          <a:xfrm>
            <a:off x="6473151" y="1034571"/>
            <a:ext cx="5325149" cy="125818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sz="2800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 </a:t>
            </a:r>
            <a:r>
              <a:rPr lang="en-US" sz="2800" b="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dereferences a </a:t>
            </a:r>
            <a:r>
              <a:rPr lang="en-US" sz="2800" b="0" dirty="0">
                <a:solidFill>
                  <a:srgbClr val="D73A48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800" b="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sz="2800" b="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b="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sz="2800" b="0" dirty="0">
                <a:solidFill>
                  <a:srgbClr val="D73A48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sz="2800" b="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giving us a const-ref</a:t>
            </a:r>
            <a:endParaRPr lang="en-US" sz="2800" dirty="0"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cxnSp>
        <p:nvCxnSpPr>
          <p:cNvPr id="8" name="Straight Arrow Connector 4">
            <a:extLst>
              <a:ext uri="{FF2B5EF4-FFF2-40B4-BE49-F238E27FC236}">
                <a16:creationId xmlns:a16="http://schemas.microsoft.com/office/drawing/2014/main" id="{52719187-6176-57E2-7F47-5F1E351455A9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6553200" y="2292755"/>
            <a:ext cx="2582526" cy="752749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FA4CBCE-4A6A-79BC-2122-63727F9AF565}"/>
              </a:ext>
            </a:extLst>
          </p:cNvPr>
          <p:cNvSpPr txBox="1">
            <a:spLocks/>
          </p:cNvSpPr>
          <p:nvPr/>
        </p:nvSpPr>
        <p:spPr>
          <a:xfrm>
            <a:off x="6553200" y="4939996"/>
            <a:ext cx="5325149" cy="143540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Phew... This is the non-const version of </a:t>
            </a:r>
            <a:r>
              <a:rPr lang="en-US" sz="28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findElement</a:t>
            </a:r>
            <a:endParaRPr lang="en-US" sz="2800" dirty="0">
              <a:solidFill>
                <a:srgbClr val="6F42C1"/>
              </a:solidFill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cxnSp>
        <p:nvCxnSpPr>
          <p:cNvPr id="11" name="Straight Arrow Connector 4">
            <a:extLst>
              <a:ext uri="{FF2B5EF4-FFF2-40B4-BE49-F238E27FC236}">
                <a16:creationId xmlns:a16="http://schemas.microsoft.com/office/drawing/2014/main" id="{E206142A-3130-0553-B8ED-79F9D3164854}"/>
              </a:ext>
            </a:extLst>
          </p:cNvPr>
          <p:cNvCxnSpPr>
            <a:cxnSpLocks/>
            <a:stCxn id="10" idx="0"/>
          </p:cNvCxnSpPr>
          <p:nvPr/>
        </p:nvCxnSpPr>
        <p:spPr>
          <a:xfrm flipH="1" flipV="1">
            <a:off x="8758575" y="3853088"/>
            <a:ext cx="457200" cy="1086908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3324779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2A6D8-AE29-D04B-5ECF-1CEA4A1BD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AEBEB-B232-91AD-8567-93A773075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const_cast</a:t>
            </a:r>
            <a:r>
              <a:rPr lang="en-US" dirty="0"/>
              <a:t> forces compiler to pick right overload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E788CE-1522-1D24-0574-BEAA1CA8D7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800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 </a:t>
            </a:r>
          </a:p>
          <a:p>
            <a:r>
              <a:rPr lang="en-US" sz="2800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class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sz="2800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public:</a:t>
            </a:r>
            <a:endParaRPr lang="en-US" sz="2800" b="0" dirty="0">
              <a:solidFill>
                <a:srgbClr val="24292E">
                  <a:alpha val="25000"/>
                </a:srgbClr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800" b="0" dirty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T</a:t>
            </a:r>
            <a:r>
              <a:rPr lang="en-US" sz="2800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800" b="0" dirty="0" err="1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E3620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sz="2800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const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at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800" b="0" dirty="0" err="1">
                <a:solidFill>
                  <a:srgbClr val="6F42C1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E3620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index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  <a:r>
              <a:rPr lang="en-US" sz="2800" b="0" dirty="0">
                <a:solidFill>
                  <a:srgbClr val="D73A49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sz="2800" b="1" dirty="0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b="1" dirty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800" b="1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1" dirty="0" err="1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findElement</a:t>
            </a:r>
            <a:r>
              <a:rPr lang="en-US" sz="2800" b="1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800" b="1" dirty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800" b="1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1" dirty="0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b="1" dirty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800" b="1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1" dirty="0">
                <a:solidFill>
                  <a:srgbClr val="E3620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</a:t>
            </a:r>
            <a:r>
              <a:rPr lang="en-US" sz="2800" b="1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const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findElement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800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  <a:r>
              <a:rPr lang="en-US" sz="2800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sz="2800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sz="2800" b="0" dirty="0">
                <a:solidFill>
                  <a:srgbClr val="24292E">
                    <a:alpha val="25000"/>
                  </a:srgbClr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44442626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FA3B3-5587-8BF8-FABD-06935AC26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DA35D-6155-0DBA-4572-91C243ACD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</a:t>
            </a:r>
            <a:r>
              <a:rPr lang="en-US" dirty="0" err="1">
                <a:solidFill>
                  <a:srgbClr val="D73A48"/>
                </a:solidFill>
              </a:rPr>
              <a:t>findElement</a:t>
            </a:r>
            <a:endParaRPr lang="en-US" dirty="0">
              <a:solidFill>
                <a:srgbClr val="D73A48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60AB5D-7D84-0381-029A-5980153287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541416"/>
            <a:ext cx="11404600" cy="5037183"/>
          </a:xfrm>
        </p:spPr>
        <p:txBody>
          <a:bodyPr>
            <a:normAutofit fontScale="92500" lnSpcReduction="20000"/>
          </a:bodyPr>
          <a:lstStyle/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&gt;::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findElement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for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logical_size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++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if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[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]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elems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[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];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}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throw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out_of_range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032F6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"Element not found"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 dirty="0" err="1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&gt;::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findElement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const_cast</a:t>
            </a:r>
            <a:r>
              <a:rPr lang="en-US" b="0" dirty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b="0" dirty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</a:t>
            </a:r>
            <a:r>
              <a:rPr lang="en-US" b="0" dirty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&gt;&amp;&gt;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D73A4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b="0" dirty="0">
                <a:solidFill>
                  <a:srgbClr val="005CC5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this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).</a:t>
            </a:r>
            <a:r>
              <a:rPr lang="en-US" b="0" dirty="0" err="1">
                <a:solidFill>
                  <a:srgbClr val="6F42C1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findElement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E36209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value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00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9291128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6DB0569-02CE-BDDB-6442-D791A9A158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Short answer: just about never</a:t>
            </a:r>
          </a:p>
          <a:p>
            <a:r>
              <a:rPr lang="en-US" dirty="0" err="1">
                <a:solidFill>
                  <a:srgbClr val="D73A48"/>
                </a:solidFill>
              </a:rPr>
              <a:t>const_cast</a:t>
            </a:r>
            <a:r>
              <a:rPr lang="en-US" dirty="0">
                <a:solidFill>
                  <a:srgbClr val="D73A48"/>
                </a:solidFill>
              </a:rPr>
              <a:t> </a:t>
            </a:r>
            <a:r>
              <a:rPr lang="en-US" dirty="0"/>
              <a:t>tells the compiler: “don’t worry I’ve got this”</a:t>
            </a:r>
          </a:p>
          <a:p>
            <a:r>
              <a:rPr lang="en-US" dirty="0"/>
              <a:t>If you need a mutable value, just don’t add </a:t>
            </a:r>
            <a:r>
              <a:rPr lang="en-US" dirty="0">
                <a:solidFill>
                  <a:srgbClr val="D73A48"/>
                </a:solidFill>
              </a:rPr>
              <a:t>const</a:t>
            </a:r>
            <a:r>
              <a:rPr lang="en-US" dirty="0"/>
              <a:t> in the first place</a:t>
            </a:r>
          </a:p>
          <a:p>
            <a:r>
              <a:rPr lang="en-US" dirty="0"/>
              <a:t>Valid uses of </a:t>
            </a:r>
            <a:r>
              <a:rPr lang="en-US" dirty="0" err="1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const_cast</a:t>
            </a:r>
            <a:r>
              <a:rPr lang="en-US" dirty="0"/>
              <a:t> are few and far between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093C7AD-F09A-326C-E588-493DFE17C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to use </a:t>
            </a:r>
            <a:r>
              <a:rPr lang="en-US" dirty="0" err="1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const_cast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536416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7153773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C6E2B8A-5BDA-CD9A-D1E7-65A33E1BEF35}"/>
              </a:ext>
            </a:extLst>
          </p:cNvPr>
          <p:cNvSpPr txBox="1">
            <a:spLocks/>
          </p:cNvSpPr>
          <p:nvPr/>
        </p:nvSpPr>
        <p:spPr>
          <a:xfrm>
            <a:off x="393700" y="3636335"/>
            <a:ext cx="11404600" cy="9888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tx1"/>
                </a:solidFill>
                <a:latin typeface="+mj-lt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US" dirty="0"/>
              <a:t>Is there anything more fine-grained?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DE1BAE8-C874-FC59-A3A9-7615E58941BB}"/>
              </a:ext>
            </a:extLst>
          </p:cNvPr>
          <p:cNvSpPr txBox="1">
            <a:spLocks/>
          </p:cNvSpPr>
          <p:nvPr/>
        </p:nvSpPr>
        <p:spPr>
          <a:xfrm>
            <a:off x="393700" y="2496879"/>
            <a:ext cx="11404600" cy="9888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tx1"/>
                </a:solidFill>
                <a:latin typeface="+mj-lt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US" dirty="0" err="1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const_cast</a:t>
            </a:r>
            <a:r>
              <a:rPr lang="en-US" dirty="0"/>
              <a:t> makes an </a:t>
            </a:r>
            <a:r>
              <a:rPr lang="en-US" i="1" dirty="0"/>
              <a:t>entire</a:t>
            </a:r>
            <a:r>
              <a:rPr lang="en-US" dirty="0"/>
              <a:t> object mutable</a:t>
            </a:r>
          </a:p>
        </p:txBody>
      </p:sp>
    </p:spTree>
    <p:extLst>
      <p:ext uri="{BB962C8B-B14F-4D97-AF65-F5344CB8AC3E}">
        <p14:creationId xmlns:p14="http://schemas.microsoft.com/office/powerpoint/2010/main" val="1213262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E6964-5D5F-A4D1-074F-67082ECFE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C++ party trick: </a:t>
            </a:r>
            <a:r>
              <a:rPr lang="en-US" dirty="0">
                <a:solidFill>
                  <a:srgbClr val="D73A48"/>
                </a:solidFill>
              </a:rPr>
              <a:t>mutable</a:t>
            </a:r>
            <a:r>
              <a:rPr lang="en-US" dirty="0"/>
              <a:t> keyword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F3B99-79D4-A88A-E562-E95684C092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struct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MutableStruct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dontTouchThis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mutable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iCanChange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MutableStruct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cm;</a:t>
            </a:r>
          </a:p>
          <a:p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</a:t>
            </a:r>
            <a:r>
              <a:rPr lang="en-US" b="0" dirty="0" err="1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cm.dontTouchThis</a:t>
            </a:r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= 42; 	// ❌ Not allowed, cm is const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cm.iCanChange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05CC5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3.14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			// ✅ Ok, </a:t>
            </a:r>
            <a:r>
              <a:rPr lang="en-US" b="0" dirty="0" err="1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iCanChange</a:t>
            </a:r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is mutable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0E52D0-57A9-D538-3488-0B3F364FA51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 dirty="0"/>
              <a:t>Like </a:t>
            </a:r>
            <a:r>
              <a:rPr lang="en-US" dirty="0" err="1">
                <a:solidFill>
                  <a:srgbClr val="D73A48"/>
                </a:solidFill>
              </a:rPr>
              <a:t>const_cast</a:t>
            </a:r>
            <a:r>
              <a:rPr lang="en-US" dirty="0"/>
              <a:t>, </a:t>
            </a:r>
            <a:r>
              <a:rPr lang="en-US" dirty="0">
                <a:solidFill>
                  <a:srgbClr val="D73A48"/>
                </a:solidFill>
              </a:rPr>
              <a:t>mutable</a:t>
            </a:r>
            <a:r>
              <a:rPr lang="en-US" dirty="0"/>
              <a:t> circumvents const protections. Use it carefully!</a:t>
            </a:r>
          </a:p>
        </p:txBody>
      </p:sp>
    </p:spTree>
    <p:extLst>
      <p:ext uri="{BB962C8B-B14F-4D97-AF65-F5344CB8AC3E}">
        <p14:creationId xmlns:p14="http://schemas.microsoft.com/office/powerpoint/2010/main" val="2352446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7F467-2FD8-2F45-E2AD-9086F8034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mutable</a:t>
            </a:r>
            <a:r>
              <a:rPr lang="en-US" dirty="0"/>
              <a:t> example: storing debug info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5FA70-437C-3549-74AD-5FAE865C9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struct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CameraRay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Point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origin;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Direction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direction;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mutable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Color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debugColor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b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void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renderRay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CameraRay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&amp;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ray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b="0" dirty="0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 err="1">
                <a:solidFill>
                  <a:srgbClr val="E3620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ray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.debugColor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Color</a:t>
            </a:r>
            <a:r>
              <a:rPr lang="en-US" b="0" dirty="0" err="1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.Yellow</a:t>
            </a:r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// Show debug ray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6A737D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/* Rendering logic goes here ... */</a:t>
            </a:r>
            <a:endParaRPr lang="en-US" b="0" dirty="0">
              <a:solidFill>
                <a:srgbClr val="24292E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24292E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B5C7B6-6AFC-5960-129E-A74BEC2919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6870" y="1397724"/>
            <a:ext cx="5654630" cy="248847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02794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5A292-BB2F-0A5D-33BB-6728EF002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</p:spTree>
    <p:extLst>
      <p:ext uri="{BB962C8B-B14F-4D97-AF65-F5344CB8AC3E}">
        <p14:creationId xmlns:p14="http://schemas.microsoft.com/office/powerpoint/2010/main" val="3282159646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D1B57EE-308A-5B27-689B-77D7A7220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452340"/>
            <a:ext cx="11404600" cy="766989"/>
          </a:xfrm>
        </p:spPr>
        <p:txBody>
          <a:bodyPr/>
          <a:lstStyle/>
          <a:p>
            <a:r>
              <a:rPr lang="en-US" dirty="0"/>
              <a:t>Meme of the Day</a:t>
            </a:r>
          </a:p>
        </p:txBody>
      </p:sp>
      <p:pic>
        <p:nvPicPr>
          <p:cNvPr id="1026" name="Picture 2" descr="Love you Bjarne : r/ProgrammerHumor">
            <a:extLst>
              <a:ext uri="{FF2B5EF4-FFF2-40B4-BE49-F238E27FC236}">
                <a16:creationId xmlns:a16="http://schemas.microsoft.com/office/drawing/2014/main" id="{8498E6B9-C816-8ABB-0A61-294AC06A04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6822" y="1397725"/>
            <a:ext cx="5098356" cy="5007935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B9056BF-B67F-8B77-87D7-31231C83AA36}"/>
              </a:ext>
            </a:extLst>
          </p:cNvPr>
          <p:cNvSpPr/>
          <p:nvPr/>
        </p:nvSpPr>
        <p:spPr>
          <a:xfrm>
            <a:off x="6165272" y="1397726"/>
            <a:ext cx="2479906" cy="24725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6E418A-A11A-AB7F-6C44-8D4A2F65FA75}"/>
              </a:ext>
            </a:extLst>
          </p:cNvPr>
          <p:cNvSpPr/>
          <p:nvPr/>
        </p:nvSpPr>
        <p:spPr>
          <a:xfrm>
            <a:off x="3546822" y="3870252"/>
            <a:ext cx="2618450" cy="25354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6744B6-8A0F-7A24-7090-831DD773CB1D}"/>
              </a:ext>
            </a:extLst>
          </p:cNvPr>
          <p:cNvSpPr/>
          <p:nvPr/>
        </p:nvSpPr>
        <p:spPr>
          <a:xfrm>
            <a:off x="6165272" y="3870252"/>
            <a:ext cx="2479906" cy="25354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583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A3873-113E-221D-EF89-CD21F2829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47ED4D0-B1F1-678C-4BA7-C723A252A0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Template Classes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Template classes generalize logic across types!</a:t>
            </a:r>
          </a:p>
          <a:p>
            <a:r>
              <a:rPr lang="en-US" dirty="0"/>
              <a:t>Code Demo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We implemented an </a:t>
            </a:r>
            <a:r>
              <a:rPr lang="en-US" dirty="0" err="1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IntVector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, and then a templated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Vector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!</a:t>
            </a:r>
          </a:p>
          <a:p>
            <a:r>
              <a:rPr lang="en-US" dirty="0"/>
              <a:t>Const Correctness</a:t>
            </a:r>
          </a:p>
          <a:p>
            <a:pPr lvl="1"/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makes an entire object read-only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Mark methods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when they don’t modify the object</a:t>
            </a:r>
          </a:p>
          <a:p>
            <a:pPr lvl="1"/>
            <a:r>
              <a:rPr lang="en-US" dirty="0" err="1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const_cast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and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mutable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can circumvent compiler in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rare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cases!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9F0A82B-7863-1AAD-E05A-CB6BE2439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Covered</a:t>
            </a:r>
          </a:p>
        </p:txBody>
      </p:sp>
    </p:spTree>
    <p:extLst>
      <p:ext uri="{BB962C8B-B14F-4D97-AF65-F5344CB8AC3E}">
        <p14:creationId xmlns:p14="http://schemas.microsoft.com/office/powerpoint/2010/main" val="27920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95284-2B15-76C2-D178-9E2B92A42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2211573"/>
            <a:ext cx="11404600" cy="2434854"/>
          </a:xfrm>
        </p:spPr>
        <p:txBody>
          <a:bodyPr/>
          <a:lstStyle/>
          <a:p>
            <a:r>
              <a:rPr lang="en-US" dirty="0"/>
              <a:t>Next Time: </a:t>
            </a:r>
            <a:r>
              <a:rPr lang="en-US" dirty="0">
                <a:solidFill>
                  <a:srgbClr val="D73A48"/>
                </a:solidFill>
              </a:rPr>
              <a:t>Template Functions</a:t>
            </a:r>
            <a:br>
              <a:rPr lang="en-US" dirty="0"/>
            </a:br>
            <a:br>
              <a:rPr lang="en-US" dirty="0"/>
            </a:br>
            <a:r>
              <a:rPr lang="en-US" b="0" dirty="0">
                <a:solidFill>
                  <a:srgbClr val="626B74"/>
                </a:solidFill>
              </a:rPr>
              <a:t>Unlocking the power of templates</a:t>
            </a:r>
          </a:p>
        </p:txBody>
      </p:sp>
    </p:spTree>
    <p:extLst>
      <p:ext uri="{BB962C8B-B14F-4D97-AF65-F5344CB8AC3E}">
        <p14:creationId xmlns:p14="http://schemas.microsoft.com/office/powerpoint/2010/main" val="33645962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S106L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38B6FF"/>
      </a:accent1>
      <a:accent2>
        <a:srgbClr val="FF5757"/>
      </a:accent2>
      <a:accent3>
        <a:srgbClr val="FFBD59"/>
      </a:accent3>
      <a:accent4>
        <a:srgbClr val="7ED957"/>
      </a:accent4>
      <a:accent5>
        <a:srgbClr val="FF4487"/>
      </a:accent5>
      <a:accent6>
        <a:srgbClr val="4EA72E"/>
      </a:accent6>
      <a:hlink>
        <a:srgbClr val="467886"/>
      </a:hlink>
      <a:folHlink>
        <a:srgbClr val="96607D"/>
      </a:folHlink>
    </a:clrScheme>
    <a:fontScheme name="Open Sans">
      <a:majorFont>
        <a:latin typeface="Open Sans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Open Sans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24632</TotalTime>
  <Words>5089</Words>
  <Application>Microsoft Office PowerPoint</Application>
  <PresentationFormat>宽屏</PresentationFormat>
  <Paragraphs>773</Paragraphs>
  <Slides>103</Slides>
  <Notes>2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103</vt:i4>
      </vt:variant>
    </vt:vector>
  </HeadingPairs>
  <TitlesOfParts>
    <vt:vector size="104" baseType="lpstr">
      <vt:lpstr>Office Theme</vt:lpstr>
      <vt:lpstr>Welcome back! Link to Attendance Form ↓</vt:lpstr>
      <vt:lpstr>Last Time: Classes</vt:lpstr>
      <vt:lpstr>A Point on classes</vt:lpstr>
      <vt:lpstr>A Point on classes</vt:lpstr>
      <vt:lpstr>It’s a pointer to the current class instance</vt:lpstr>
      <vt:lpstr>The importance of this</vt:lpstr>
      <vt:lpstr>The importance of this</vt:lpstr>
      <vt:lpstr>What is this?</vt:lpstr>
      <vt:lpstr>PowerPoint 演示文稿</vt:lpstr>
      <vt:lpstr>Last Time: IntVector</vt:lpstr>
      <vt:lpstr>Not so fast…</vt:lpstr>
      <vt:lpstr>You realize you need to handle...</vt:lpstr>
      <vt:lpstr>IntVector is too specific</vt:lpstr>
      <vt:lpstr>IntVector is too specific</vt:lpstr>
      <vt:lpstr>std::vector&lt;T&gt;</vt:lpstr>
      <vt:lpstr>Lecture 8:  Template Classes</vt:lpstr>
      <vt:lpstr>Today’s Agenda</vt:lpstr>
      <vt:lpstr>PowerPoint 演示文稿</vt:lpstr>
      <vt:lpstr>Template Classes</vt:lpstr>
      <vt:lpstr>Templates: A bit of history</vt:lpstr>
      <vt:lpstr>Templates: A bit of history</vt:lpstr>
      <vt:lpstr>Templates: A bit of history</vt:lpstr>
      <vt:lpstr>Templates: A bit of history</vt:lpstr>
      <vt:lpstr>Templates: A bit of history</vt:lpstr>
      <vt:lpstr>Templates: A bit of history</vt:lpstr>
      <vt:lpstr>Templates: A bit of history</vt:lpstr>
      <vt:lpstr>Templates: A bit of history</vt:lpstr>
      <vt:lpstr>Problems with macros</vt:lpstr>
      <vt:lpstr>Key Idea: Templates automate code generation</vt:lpstr>
      <vt:lpstr>Templates have come a long way</vt:lpstr>
      <vt:lpstr>Template Instantiation</vt:lpstr>
      <vt:lpstr>Template Instantiation</vt:lpstr>
      <vt:lpstr>A template is like a factory</vt:lpstr>
      <vt:lpstr>PowerPoint 演示文稿</vt:lpstr>
      <vt:lpstr>Templates vs. Types</vt:lpstr>
      <vt:lpstr>Templates vs. Types</vt:lpstr>
      <vt:lpstr>What’s the problem with this code?</vt:lpstr>
      <vt:lpstr>Note: These are two distinct types</vt:lpstr>
      <vt:lpstr>Fun Fact: typename is interchangeable</vt:lpstr>
      <vt:lpstr>Fun Fact: typename is interchangeable</vt:lpstr>
      <vt:lpstr>PowerPoint 演示文稿</vt:lpstr>
      <vt:lpstr>👻 A few template quirks 👻</vt:lpstr>
      <vt:lpstr>(1) Must copy template &lt;…&gt; syntax in .cpp </vt:lpstr>
      <vt:lpstr>Template class implementation</vt:lpstr>
      <vt:lpstr>Template class implementation</vt:lpstr>
      <vt:lpstr>Template class implementation</vt:lpstr>
      <vt:lpstr>(2) .h must include .cpp at bottom of file</vt:lpstr>
      <vt:lpstr>Normal class implementation</vt:lpstr>
      <vt:lpstr>Template class implementation</vt:lpstr>
      <vt:lpstr>That’s pretty weird 🤨 Why?</vt:lpstr>
      <vt:lpstr>(3) typename is the same as class</vt:lpstr>
      <vt:lpstr>(3) typename is the same as class</vt:lpstr>
      <vt:lpstr>(3) typename is the same as class</vt:lpstr>
      <vt:lpstr>PowerPoint 演示文稿</vt:lpstr>
      <vt:lpstr>Code Demo</vt:lpstr>
      <vt:lpstr>Let’s implement Vector&lt;T&gt;</vt:lpstr>
      <vt:lpstr>PowerPoint 演示文稿</vt:lpstr>
      <vt:lpstr>PowerPoint 演示文稿</vt:lpstr>
      <vt:lpstr>Const Correctness</vt:lpstr>
      <vt:lpstr>Let’s use our Vector class!</vt:lpstr>
      <vt:lpstr>Huh? But there is a method called size</vt:lpstr>
      <vt:lpstr>What is the problem?</vt:lpstr>
      <vt:lpstr>How do we fix it?</vt:lpstr>
      <vt:lpstr>How do we fix it (.cpp file)?</vt:lpstr>
      <vt:lpstr>How do we fix it (.cpp file)?</vt:lpstr>
      <vt:lpstr>What is this?</vt:lpstr>
      <vt:lpstr>The const interface</vt:lpstr>
      <vt:lpstr>The const interface</vt:lpstr>
      <vt:lpstr>PowerPoint 演示文稿</vt:lpstr>
      <vt:lpstr>Back to our Vector class!</vt:lpstr>
      <vt:lpstr>Back to our Vector class!</vt:lpstr>
      <vt:lpstr>Back to our Vector class!</vt:lpstr>
      <vt:lpstr>Back to our Vector class!</vt:lpstr>
      <vt:lpstr>Back to our Vector class!</vt:lpstr>
      <vt:lpstr>Problem #1: const consumers can modify!</vt:lpstr>
      <vt:lpstr>Solution: return a const reference</vt:lpstr>
      <vt:lpstr>Problem #2: non-const consumers can’t modify!</vt:lpstr>
      <vt:lpstr>Solution: const overloading!</vt:lpstr>
      <vt:lpstr>Solution: const overloading (.cpp file)!</vt:lpstr>
      <vt:lpstr>PowerPoint 演示文稿</vt:lpstr>
      <vt:lpstr>Solution: const overloading (.cpp file)!</vt:lpstr>
      <vt:lpstr>What if we added a findElement?</vt:lpstr>
      <vt:lpstr>Implementing findElement</vt:lpstr>
      <vt:lpstr>Implementing findElement</vt:lpstr>
      <vt:lpstr>A slight (but useful) aside</vt:lpstr>
      <vt:lpstr>Implementing findElement</vt:lpstr>
      <vt:lpstr>const_cast&lt;Vector&lt;T&gt;&amp;&gt;(*this).findElement(value);</vt:lpstr>
      <vt:lpstr>const_cast&lt;Vector&lt;T&gt;&amp;&gt;(*this).findElement(value);</vt:lpstr>
      <vt:lpstr>const_cast&lt;Vector&lt;T&gt;&amp;&gt;(*this).findElement(value);</vt:lpstr>
      <vt:lpstr>const_cast&lt;Vector&lt;T&gt;&amp;&gt;(*this).findElement(value);</vt:lpstr>
      <vt:lpstr>const_cast&lt;Vector&lt;T&gt;&amp;&gt;(*this).findElement(value);</vt:lpstr>
      <vt:lpstr>const_cast&lt;Vector&lt;T&gt;&amp;&gt;(*this).findElement(value);</vt:lpstr>
      <vt:lpstr>const_cast forces compiler to pick right overload</vt:lpstr>
      <vt:lpstr>Implementing findElement</vt:lpstr>
      <vt:lpstr>When to use const_cast?</vt:lpstr>
      <vt:lpstr>PowerPoint 演示文稿</vt:lpstr>
      <vt:lpstr>PowerPoint 演示文稿</vt:lpstr>
      <vt:lpstr>A C++ party trick: mutable keyword</vt:lpstr>
      <vt:lpstr>mutable example: storing debug info</vt:lpstr>
      <vt:lpstr>Recap</vt:lpstr>
      <vt:lpstr>Meme of the Day</vt:lpstr>
      <vt:lpstr>What We Covered</vt:lpstr>
      <vt:lpstr>Next Time: Template Functions  Unlocking the power of templates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2: Types and Structs</dc:title>
  <dc:creator>Jacob Tristan Roberts-Baca</dc:creator>
  <cp:lastModifiedBy>Jacob Tristan Roberts-Baca</cp:lastModifiedBy>
  <cp:revision>99</cp:revision>
  <dcterms:created xsi:type="dcterms:W3CDTF">2024-08-11T15:35:55Z</dcterms:created>
  <dcterms:modified xsi:type="dcterms:W3CDTF">2025-10-16T14:44:20Z</dcterms:modified>
</cp:coreProperties>
</file>